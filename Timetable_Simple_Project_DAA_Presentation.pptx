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33A375-DA0C-A2FF-DE7D-525149A4AD85}">
          <p14:sldIdLst>
            <p14:sldId id="256"/>
            <p14:sldId id="257"/>
            <p14:sldId id="258"/>
            <p14:sldId id="259"/>
          </p14:sldIdLst>
        </p14:section>
        <p14:section name="Method" id="{8DB9F0CA-BC14-5503-602F-55AD0D30920E}">
          <p14:sldIdLst>
            <p14:sldId id="260"/>
            <p14:sldId id="261"/>
            <p14:sldId id="262"/>
            <p14:sldId id="263"/>
            <p14:sldId id="264"/>
            <p14:sldId id="265"/>
          </p14:sldIdLst>
        </p14:section>
        <p14:section name="Results" id="{D8A37B49-810C-18B1-249F-9AD84FDFF512}">
          <p14:sldIdLst>
            <p14:sldId id="266"/>
            <p14:sldId id="267"/>
            <p14:sldId id="268"/>
          </p14:sldIdLst>
        </p14:section>
        <p14:section name="Wrap-up" id="{6E597483-B702-039B-D574-03CF41CCA25B}">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96" y="3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49"/>
                </a:solidFill>
                <a:latin typeface="+mn-lt"/>
              </a:defRPr>
            </a:pPr>
            <a:r>
              <a:rPr lang="en-US" sz="1300" b="0" i="0" u="none" strike="noStrike">
                <a:solidFill>
                  <a:srgbClr val="1B2A49"/>
                </a:solidFill>
                <a:latin typeface="+mn-lt"/>
              </a:rPr>
              <a:t>Execution time (ms, log scale)</a:t>
            </a:r>
          </a:p>
        </c:rich>
      </c:tx>
      <c:overlay val="0"/>
    </c:title>
    <c:autoTitleDeleted val="0"/>
    <c:plotArea>
      <c:layout/>
      <c:lineChart>
        <c:grouping val="standard"/>
        <c:varyColors val="0"/>
        <c:ser>
          <c:idx val="0"/>
          <c:order val="0"/>
          <c:tx>
            <c:strRef>
              <c:f>Sheet1!$B$1</c:f>
              <c:strCache>
                <c:ptCount val="1"/>
                <c:pt idx="0">
                  <c:v>Colouring</c:v>
                </c:pt>
              </c:strCache>
            </c:strRef>
          </c:tx>
          <c:spPr>
            <a:ln w="31750" cap="flat">
              <a:solidFill>
                <a:srgbClr val="0B7F8B"/>
              </a:solidFill>
              <a:prstDash val="solid"/>
              <a:round/>
            </a:ln>
            <a:effectLst/>
          </c:spPr>
          <c:marker>
            <c:symbol val="circle"/>
            <c:size val="7"/>
            <c:spPr>
              <a:solidFill>
                <a:srgbClr val="0B7F8B"/>
              </a:solidFill>
              <a:ln w="9525" cap="flat">
                <a:solidFill>
                  <a:srgbClr val="0B7F8B"/>
                </a:solidFill>
                <a:prstDash val="solid"/>
                <a:round/>
              </a:ln>
              <a:effectLst/>
            </c:spPr>
          </c:marker>
          <c:cat>
            <c:strRef>
              <c:f>Sheet1!$A$2:$A$6</c:f>
              <c:strCache>
                <c:ptCount val="5"/>
                <c:pt idx="0">
                  <c:v>10</c:v>
                </c:pt>
                <c:pt idx="1">
                  <c:v>20</c:v>
                </c:pt>
                <c:pt idx="2">
                  <c:v>30</c:v>
                </c:pt>
                <c:pt idx="3">
                  <c:v>50</c:v>
                </c:pt>
                <c:pt idx="4">
                  <c:v>100</c:v>
                </c:pt>
              </c:strCache>
            </c:strRef>
          </c:cat>
          <c:val>
            <c:numRef>
              <c:f>Sheet1!$B$2:$B$6</c:f>
              <c:numCache>
                <c:formatCode>General</c:formatCode>
                <c:ptCount val="5"/>
                <c:pt idx="0">
                  <c:v>0.04</c:v>
                </c:pt>
                <c:pt idx="1">
                  <c:v>7.0000000000000007E-2</c:v>
                </c:pt>
                <c:pt idx="2">
                  <c:v>0.12</c:v>
                </c:pt>
                <c:pt idx="3">
                  <c:v>0.19</c:v>
                </c:pt>
                <c:pt idx="4">
                  <c:v>0.4</c:v>
                </c:pt>
              </c:numCache>
            </c:numRef>
          </c:val>
          <c:smooth val="0"/>
          <c:extLst>
            <c:ext xmlns:c16="http://schemas.microsoft.com/office/drawing/2014/chart" uri="{C3380CC4-5D6E-409C-BE32-E72D297353CC}">
              <c16:uniqueId val="{00000000-003F-42FB-84A1-EDDAF7C4EB10}"/>
            </c:ext>
          </c:extLst>
        </c:ser>
        <c:ser>
          <c:idx val="1"/>
          <c:order val="1"/>
          <c:tx>
            <c:strRef>
              <c:f>Sheet1!$C$1</c:f>
              <c:strCache>
                <c:ptCount val="1"/>
                <c:pt idx="0">
                  <c:v>Greedy</c:v>
                </c:pt>
              </c:strCache>
            </c:strRef>
          </c:tx>
          <c:spPr>
            <a:ln w="31750" cap="flat">
              <a:solidFill>
                <a:srgbClr val="6B5CE7"/>
              </a:solidFill>
              <a:prstDash val="solid"/>
              <a:round/>
            </a:ln>
            <a:effectLst/>
          </c:spPr>
          <c:marker>
            <c:symbol val="circle"/>
            <c:size val="7"/>
            <c:spPr>
              <a:solidFill>
                <a:srgbClr val="6B5CE7"/>
              </a:solidFill>
              <a:ln w="9525" cap="flat">
                <a:solidFill>
                  <a:srgbClr val="6B5CE7"/>
                </a:solidFill>
                <a:prstDash val="solid"/>
                <a:round/>
              </a:ln>
              <a:effectLst/>
            </c:spPr>
          </c:marker>
          <c:cat>
            <c:strRef>
              <c:f>Sheet1!$A$2:$A$6</c:f>
              <c:strCache>
                <c:ptCount val="5"/>
                <c:pt idx="0">
                  <c:v>10</c:v>
                </c:pt>
                <c:pt idx="1">
                  <c:v>20</c:v>
                </c:pt>
                <c:pt idx="2">
                  <c:v>30</c:v>
                </c:pt>
                <c:pt idx="3">
                  <c:v>50</c:v>
                </c:pt>
                <c:pt idx="4">
                  <c:v>100</c:v>
                </c:pt>
              </c:strCache>
            </c:strRef>
          </c:cat>
          <c:val>
            <c:numRef>
              <c:f>Sheet1!$C$2:$C$6</c:f>
              <c:numCache>
                <c:formatCode>General</c:formatCode>
                <c:ptCount val="5"/>
                <c:pt idx="0">
                  <c:v>0.06</c:v>
                </c:pt>
                <c:pt idx="1">
                  <c:v>0.08</c:v>
                </c:pt>
                <c:pt idx="2">
                  <c:v>0.14000000000000001</c:v>
                </c:pt>
                <c:pt idx="3">
                  <c:v>0.27</c:v>
                </c:pt>
                <c:pt idx="4">
                  <c:v>0.55000000000000004</c:v>
                </c:pt>
              </c:numCache>
            </c:numRef>
          </c:val>
          <c:smooth val="0"/>
          <c:extLst>
            <c:ext xmlns:c16="http://schemas.microsoft.com/office/drawing/2014/chart" uri="{C3380CC4-5D6E-409C-BE32-E72D297353CC}">
              <c16:uniqueId val="{00000001-003F-42FB-84A1-EDDAF7C4EB10}"/>
            </c:ext>
          </c:extLst>
        </c:ser>
        <c:ser>
          <c:idx val="2"/>
          <c:order val="2"/>
          <c:tx>
            <c:strRef>
              <c:f>Sheet1!$D$1</c:f>
              <c:strCache>
                <c:ptCount val="1"/>
                <c:pt idx="0">
                  <c:v>Backtracking</c:v>
                </c:pt>
              </c:strCache>
            </c:strRef>
          </c:tx>
          <c:spPr>
            <a:ln w="31750" cap="flat">
              <a:solidFill>
                <a:srgbClr val="D9482B"/>
              </a:solidFill>
              <a:prstDash val="solid"/>
              <a:round/>
            </a:ln>
            <a:effectLst/>
          </c:spPr>
          <c:marker>
            <c:symbol val="circle"/>
            <c:size val="7"/>
            <c:spPr>
              <a:solidFill>
                <a:srgbClr val="D9482B"/>
              </a:solidFill>
              <a:ln w="9525" cap="flat">
                <a:solidFill>
                  <a:srgbClr val="D9482B"/>
                </a:solidFill>
                <a:prstDash val="solid"/>
                <a:round/>
              </a:ln>
              <a:effectLst/>
            </c:spPr>
          </c:marker>
          <c:cat>
            <c:strRef>
              <c:f>Sheet1!$A$2:$A$6</c:f>
              <c:strCache>
                <c:ptCount val="5"/>
                <c:pt idx="0">
                  <c:v>10</c:v>
                </c:pt>
                <c:pt idx="1">
                  <c:v>20</c:v>
                </c:pt>
                <c:pt idx="2">
                  <c:v>30</c:v>
                </c:pt>
                <c:pt idx="3">
                  <c:v>50</c:v>
                </c:pt>
                <c:pt idx="4">
                  <c:v>100</c:v>
                </c:pt>
              </c:strCache>
            </c:strRef>
          </c:cat>
          <c:val>
            <c:numRef>
              <c:f>Sheet1!$D$2:$D$6</c:f>
              <c:numCache>
                <c:formatCode>General</c:formatCode>
                <c:ptCount val="5"/>
                <c:pt idx="0">
                  <c:v>7.0000000000000007E-2</c:v>
                </c:pt>
                <c:pt idx="1">
                  <c:v>0.14000000000000001</c:v>
                </c:pt>
                <c:pt idx="2">
                  <c:v>0.33</c:v>
                </c:pt>
                <c:pt idx="3">
                  <c:v>0.35</c:v>
                </c:pt>
                <c:pt idx="4">
                  <c:v>2433</c:v>
                </c:pt>
              </c:numCache>
            </c:numRef>
          </c:val>
          <c:smooth val="0"/>
          <c:extLst>
            <c:ext xmlns:c16="http://schemas.microsoft.com/office/drawing/2014/chart" uri="{C3380CC4-5D6E-409C-BE32-E72D297353CC}">
              <c16:uniqueId val="{00000002-003F-42FB-84A1-EDDAF7C4EB1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B7689"/>
                    </a:solidFill>
                    <a:latin typeface="+mn-lt"/>
                  </a:defRPr>
                </a:pPr>
                <a:r>
                  <a:rPr lang="en-IN" sz="1100" b="0" i="0" u="none" strike="noStrike">
                    <a:solidFill>
                      <a:srgbClr val="6B7689"/>
                    </a:solidFill>
                    <a:latin typeface="+mn-lt"/>
                  </a:rPr>
                  <a:t>Number of classes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689"/>
                </a:solidFill>
                <a:latin typeface="+mn-lt"/>
              </a:defRPr>
            </a:pPr>
            <a:endParaRPr lang="en-US"/>
          </a:p>
        </c:txPr>
        <c:crossAx val="2094734552"/>
        <c:crosses val="autoZero"/>
        <c:auto val="1"/>
        <c:lblAlgn val="ctr"/>
        <c:lblOffset val="100"/>
        <c:noMultiLvlLbl val="1"/>
      </c:catAx>
      <c:valAx>
        <c:axId val="2094734552"/>
        <c:scaling>
          <c:logBase val="10"/>
          <c:orientation val="minMax"/>
          <c:max val="10000"/>
          <c:min val="0.01"/>
        </c:scaling>
        <c:delete val="0"/>
        <c:axPos val="l"/>
        <c:majorGridlines>
          <c:spPr>
            <a:ln w="6350"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6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44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6826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automatic university timetable generator using graph colouring, greedy algorithms and backtracking. Every member introduces themselves. Replace the bracketed text with your group details.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problem clearly: inputs, outputs, constraints, objective. Stress that the system must produce a timetable with zero clashes and as few slots as possible.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automatic timetabling is useful and who benefits. Keep it to one minute.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measurable objectives. Each one ties directly to the DAA requirements: algorithm design, complexity analysis, testing and comparison.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approach: manual or simple first-come scheduling, with its limitations. Our need: an automatic method with a guarantee of no clashes. The graph colouring idea turns the timetable into a colouring problem: connected dots must get different colours.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required project flow: problem, data, algorithm selection, design, implementation, testing with different sizes, comparison, and conclusion. Read the steps left to right, top row then bottom row.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algorithms solve the same graph colouring model. Greedy ones are fast heuristics; backtracking is exact but slow. We compare them to see the speed versus quality trade-off.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 = classes, E = clashes, k = time slots, LB = lower bound on slots. Greedy places each class once. Backtracking starts at k = LB and asks whether all classes fit in k slots; if not, it tries k + 1. For each class it tries the slots, and undoes the choice when it gets stuck, so its worst case is exponential. To save time, a class may open only one new slot, and the search stops after 200,000 steps.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the user gives input through the GUI window (or uses the sample or random data), the input module builds the class list, the graph builder creates the conflict graph, the algorithm engine produces a timetable, and the output module validates it and shows it. The benchmark module runs the same pipeline for many sizes.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was chosen for fast development and easy plotting. The graph is stored as a dictionary mapping each class to the set of classes it clashes with. Backtracking uses recursion and undoes choices when stuck.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screenshots come from our GUI (python gui.py). Retake them on your own computer if you like (Windows + Shift + S). Each one has a caption that says what it demonstrates.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running python compare.py. Backtracking found fewer slots than the other two at 30 classes (10 instead of 11) but gave up at 100 classes. Greedy was not always better than basic colouring: at 50 classes basic used 9 slots and greedy 10. Be honest about this. Re-run compare.py on your computer and update the table if your numbers differ.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best, average, worst and space complexity. Then compare with experiments: greedy grows polynomially, backtracking grows exponentially. If your own benchmark numbers differ, update the ratios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backtracking does not scale, room assignment is a simple rule, and soft preferences are not yet modelled. These are natural next steps.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problem and solution, then the three key findings. Everyone must be ready to answer questions about the complete project.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868680"/>
            <a:ext cx="5394960" cy="17373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274320"/>
            <a:ext cx="8046720" cy="6858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3600" b="1" dirty="0">
                <a:solidFill>
                  <a:schemeClr val="tx2"/>
                </a:solidFill>
              </a:defRPr>
            </a:lvl1pPr>
          </a:lstStyle>
          <a:p>
            <a:pPr marL="0" indent="0">
              <a:buNone/>
            </a:pPr>
            <a:endParaRPr lang="en-US" sz="3600" dirty="0"/>
          </a:p>
        </p:txBody>
      </p:sp>
      <p:sp>
        <p:nvSpPr>
          <p:cNvPr id="3" name="Text 0"/>
          <p:cNvSpPr/>
          <p:nvPr/>
        </p:nvSpPr>
        <p:spPr>
          <a:xfrm>
            <a:off x="457200" y="4846320"/>
            <a:ext cx="5486400" cy="201168"/>
          </a:xfrm>
          <a:prstGeom prst="rect">
            <a:avLst/>
          </a:prstGeom>
          <a:noFill/>
          <a:ln/>
        </p:spPr>
        <p:txBody>
          <a:bodyPr wrap="square" lIns="0" tIns="0" rIns="0" bIns="0" rtlCol="0" anchor="ctr"/>
          <a:lstStyle/>
          <a:p>
            <a:pPr marL="0" indent="0">
              <a:buNone/>
            </a:pPr>
            <a:r>
              <a:rPr lang="en-US" sz="1000" dirty="0">
                <a:solidFill>
                  <a:srgbClr val="6B7689"/>
                </a:solidFill>
              </a:rPr>
              <a:t>DAA Mini Project  |  University Timetable Optimization</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_1"/>
          <p:cNvSpPr txBox="1"/>
          <p:nvPr/>
        </p:nvSpPr>
        <p:spPr>
          <a:xfrm>
            <a:off x="548640" y="502920"/>
            <a:ext cx="5669280" cy="274320"/>
          </a:xfrm>
          <a:prstGeom prst="rect">
            <a:avLst/>
          </a:prstGeom>
          <a:noFill/>
          <a:ln/>
        </p:spPr>
        <p:txBody>
          <a:bodyPr wrap="square" lIns="0" tIns="0" rIns="0" bIns="0" rtlCol="0" anchor="t"/>
          <a:lstStyle/>
          <a:p>
            <a:pPr marL="0" indent="0">
              <a:buNone/>
            </a:pPr>
            <a:r>
              <a:rPr lang="en-US" sz="1200" b="1" dirty="0">
                <a:solidFill>
                  <a:srgbClr val="E59A1F"/>
                </a:solidFill>
              </a:rPr>
              <a:t>DESIGN AND ANALYSIS OF ALGORITHMS  |  5TH SEMESTER MINI PROJECT</a:t>
            </a:r>
            <a:endParaRPr lang="en-US" sz="1200" dirty="0"/>
          </a:p>
        </p:txBody>
      </p:sp>
      <p:sp>
        <p:nvSpPr>
          <p:cNvPr id="3" name="Text 1"/>
          <p:cNvSpPr>
            <a:spLocks noGrp="1"/>
          </p:cNvSpPr>
          <p:nvPr>
            <p:ph type="title" idx="101" hasCustomPrompt="1"/>
          </p:nvPr>
        </p:nvSpPr>
        <p:spPr>
          <a:xfrm>
            <a:off x="548640" y="868680"/>
            <a:ext cx="5394960" cy="1737360"/>
          </a:xfrm>
          <a:prstGeom prst="rect">
            <a:avLst/>
          </a:prstGeom>
          <a:noFill/>
          <a:ln/>
        </p:spPr>
        <p:txBody>
          <a:bodyPr wrap="square" lIns="0" tIns="0" rIns="0" bIns="0" rtlCol="0" anchor="ctr"/>
          <a:lstStyle/>
          <a:p>
            <a:pPr marL="0" indent="0" algn="l">
              <a:buNone/>
            </a:pPr>
            <a:r>
              <a:rPr lang="en-US" sz="3800" b="1" dirty="0">
                <a:solidFill>
                  <a:schemeClr val="bg1"/>
                </a:solidFill>
              </a:rPr>
              <a:t>University Timetable Optimization System</a:t>
            </a:r>
            <a:endParaRPr lang="en-US" sz="3800" dirty="0"/>
          </a:p>
        </p:txBody>
      </p:sp>
      <p:sp>
        <p:nvSpPr>
          <p:cNvPr id="4" name="text_2"/>
          <p:cNvSpPr txBox="1"/>
          <p:nvPr/>
        </p:nvSpPr>
        <p:spPr>
          <a:xfrm>
            <a:off x="548640" y="2743200"/>
            <a:ext cx="5394960" cy="1920240"/>
          </a:xfrm>
          <a:prstGeom prst="rect">
            <a:avLst/>
          </a:prstGeom>
          <a:noFill/>
          <a:ln/>
        </p:spPr>
        <p:txBody>
          <a:bodyPr wrap="square" lIns="0" tIns="0" rIns="0" bIns="0" rtlCol="0" anchor="t"/>
          <a:lstStyle/>
          <a:p>
            <a:pPr marL="0" indent="0">
              <a:spcAft>
                <a:spcPts val="200"/>
              </a:spcAft>
              <a:buNone/>
            </a:pPr>
            <a:r>
              <a:rPr lang="en-US" sz="1400" b="1" dirty="0">
                <a:solidFill>
                  <a:schemeClr val="bg1"/>
                </a:solidFill>
              </a:rPr>
              <a:t>Course: </a:t>
            </a:r>
            <a:r>
              <a:rPr lang="en-US" sz="1400" dirty="0">
                <a:solidFill>
                  <a:schemeClr val="bg1"/>
                </a:solidFill>
              </a:rPr>
              <a:t>Design and Analysis of Algorithms</a:t>
            </a:r>
            <a:endParaRPr lang="en-US" sz="1400" dirty="0"/>
          </a:p>
          <a:p>
            <a:pPr marL="0" indent="0">
              <a:spcAft>
                <a:spcPts val="200"/>
              </a:spcAft>
              <a:buNone/>
            </a:pPr>
            <a:r>
              <a:rPr lang="en-US" sz="1400" b="1" dirty="0">
                <a:solidFill>
                  <a:schemeClr val="bg1"/>
                </a:solidFill>
              </a:rPr>
              <a:t>Students: </a:t>
            </a:r>
            <a:r>
              <a:rPr lang="en-US" sz="1400" dirty="0">
                <a:solidFill>
                  <a:schemeClr val="bg1"/>
                </a:solidFill>
              </a:rPr>
              <a:t>Megha Suthar     12402080601082</a:t>
            </a:r>
          </a:p>
          <a:p>
            <a:pPr marL="0" indent="0">
              <a:spcAft>
                <a:spcPts val="200"/>
              </a:spcAft>
              <a:buNone/>
            </a:pPr>
            <a:r>
              <a:rPr lang="en-US" sz="1400" dirty="0">
                <a:solidFill>
                  <a:schemeClr val="bg1"/>
                </a:solidFill>
              </a:rPr>
              <a:t>                   Mudra </a:t>
            </a:r>
            <a:r>
              <a:rPr lang="en-US" sz="1400" dirty="0" err="1">
                <a:solidFill>
                  <a:schemeClr val="bg1"/>
                </a:solidFill>
              </a:rPr>
              <a:t>Panwala</a:t>
            </a:r>
            <a:r>
              <a:rPr lang="en-US" sz="1400" dirty="0">
                <a:solidFill>
                  <a:schemeClr val="bg1"/>
                </a:solidFill>
              </a:rPr>
              <a:t>  12402080601086</a:t>
            </a:r>
          </a:p>
          <a:p>
            <a:pPr marL="0" indent="0">
              <a:spcAft>
                <a:spcPts val="200"/>
              </a:spcAft>
              <a:buNone/>
            </a:pPr>
            <a:r>
              <a:rPr lang="en-US" sz="1400" dirty="0">
                <a:solidFill>
                  <a:schemeClr val="bg1"/>
                </a:solidFill>
              </a:rPr>
              <a:t>                   Nidhi Patel           12402080601093</a:t>
            </a:r>
          </a:p>
          <a:p>
            <a:pPr marL="0" indent="0">
              <a:spcAft>
                <a:spcPts val="200"/>
              </a:spcAft>
              <a:buNone/>
            </a:pPr>
            <a:r>
              <a:rPr lang="en-US" sz="1400" dirty="0">
                <a:solidFill>
                  <a:schemeClr val="bg1"/>
                </a:solidFill>
              </a:rPr>
              <a:t>                   Vira Patel             12402080601151</a:t>
            </a:r>
          </a:p>
          <a:p>
            <a:pPr marL="0" indent="0">
              <a:spcAft>
                <a:spcPts val="200"/>
              </a:spcAft>
              <a:buNone/>
            </a:pPr>
            <a:endParaRPr lang="en-US" sz="1400" dirty="0">
              <a:solidFill>
                <a:schemeClr val="bg1"/>
              </a:solidFill>
            </a:endParaRPr>
          </a:p>
          <a:p>
            <a:pPr marL="0" indent="0">
              <a:spcAft>
                <a:spcPts val="200"/>
              </a:spcAft>
              <a:buNone/>
            </a:pPr>
            <a:r>
              <a:rPr lang="en-US" sz="1400" b="1" dirty="0">
                <a:solidFill>
                  <a:schemeClr val="bg1"/>
                </a:solidFill>
              </a:rPr>
              <a:t>Faculty: </a:t>
            </a:r>
            <a:r>
              <a:rPr lang="en-US" sz="1400" dirty="0">
                <a:solidFill>
                  <a:schemeClr val="bg1"/>
                </a:solidFill>
              </a:rPr>
              <a:t>Professor Yamini Dubey </a:t>
            </a:r>
            <a:endParaRPr lang="en-US" sz="1400" dirty="0"/>
          </a:p>
        </p:txBody>
      </p:sp>
      <p:sp>
        <p:nvSpPr>
          <p:cNvPr id="5" name="edge_3"/>
          <p:cNvSpPr/>
          <p:nvPr/>
        </p:nvSpPr>
        <p:spPr>
          <a:xfrm flipV="1">
            <a:off x="6821424" y="1060704"/>
            <a:ext cx="1463040" cy="182880"/>
          </a:xfrm>
          <a:prstGeom prst="line">
            <a:avLst/>
          </a:prstGeom>
          <a:noFill/>
          <a:ln w="25400">
            <a:solidFill>
              <a:srgbClr val="8FA3C7"/>
            </a:solidFill>
            <a:prstDash val="solid"/>
          </a:ln>
        </p:spPr>
      </p:sp>
      <p:sp>
        <p:nvSpPr>
          <p:cNvPr id="6" name="edge_4"/>
          <p:cNvSpPr/>
          <p:nvPr/>
        </p:nvSpPr>
        <p:spPr>
          <a:xfrm>
            <a:off x="6821424" y="1243584"/>
            <a:ext cx="731520" cy="1097280"/>
          </a:xfrm>
          <a:prstGeom prst="line">
            <a:avLst/>
          </a:prstGeom>
          <a:noFill/>
          <a:ln w="25400">
            <a:solidFill>
              <a:srgbClr val="8FA3C7"/>
            </a:solidFill>
            <a:prstDash val="solid"/>
          </a:ln>
        </p:spPr>
      </p:sp>
      <p:sp>
        <p:nvSpPr>
          <p:cNvPr id="7" name="edge_5"/>
          <p:cNvSpPr/>
          <p:nvPr/>
        </p:nvSpPr>
        <p:spPr>
          <a:xfrm flipV="1">
            <a:off x="7552944" y="1060704"/>
            <a:ext cx="731520" cy="1280160"/>
          </a:xfrm>
          <a:prstGeom prst="line">
            <a:avLst/>
          </a:prstGeom>
          <a:noFill/>
          <a:ln w="25400">
            <a:solidFill>
              <a:srgbClr val="8FA3C7"/>
            </a:solidFill>
            <a:prstDash val="solid"/>
          </a:ln>
        </p:spPr>
      </p:sp>
      <p:sp>
        <p:nvSpPr>
          <p:cNvPr id="8" name="edge_6"/>
          <p:cNvSpPr/>
          <p:nvPr/>
        </p:nvSpPr>
        <p:spPr>
          <a:xfrm>
            <a:off x="8284464" y="1060704"/>
            <a:ext cx="182880" cy="1920240"/>
          </a:xfrm>
          <a:prstGeom prst="line">
            <a:avLst/>
          </a:prstGeom>
          <a:noFill/>
          <a:ln w="25400">
            <a:solidFill>
              <a:srgbClr val="8FA3C7"/>
            </a:solidFill>
            <a:prstDash val="solid"/>
          </a:ln>
        </p:spPr>
      </p:sp>
      <p:sp>
        <p:nvSpPr>
          <p:cNvPr id="9" name="edge_7"/>
          <p:cNvSpPr/>
          <p:nvPr/>
        </p:nvSpPr>
        <p:spPr>
          <a:xfrm>
            <a:off x="7552944" y="2340864"/>
            <a:ext cx="914400" cy="640080"/>
          </a:xfrm>
          <a:prstGeom prst="line">
            <a:avLst/>
          </a:prstGeom>
          <a:noFill/>
          <a:ln w="25400">
            <a:solidFill>
              <a:srgbClr val="8FA3C7"/>
            </a:solidFill>
            <a:prstDash val="solid"/>
          </a:ln>
        </p:spPr>
      </p:sp>
      <p:sp>
        <p:nvSpPr>
          <p:cNvPr id="10" name="edge_8"/>
          <p:cNvSpPr/>
          <p:nvPr/>
        </p:nvSpPr>
        <p:spPr>
          <a:xfrm flipV="1">
            <a:off x="6638544" y="2340864"/>
            <a:ext cx="914400" cy="1097280"/>
          </a:xfrm>
          <a:prstGeom prst="line">
            <a:avLst/>
          </a:prstGeom>
          <a:noFill/>
          <a:ln w="25400">
            <a:solidFill>
              <a:srgbClr val="8FA3C7"/>
            </a:solidFill>
            <a:prstDash val="solid"/>
          </a:ln>
        </p:spPr>
      </p:sp>
      <p:sp>
        <p:nvSpPr>
          <p:cNvPr id="11" name="edge_9"/>
          <p:cNvSpPr/>
          <p:nvPr/>
        </p:nvSpPr>
        <p:spPr>
          <a:xfrm flipV="1">
            <a:off x="7644384" y="2980944"/>
            <a:ext cx="822960" cy="1188720"/>
          </a:xfrm>
          <a:prstGeom prst="line">
            <a:avLst/>
          </a:prstGeom>
          <a:noFill/>
          <a:ln w="25400">
            <a:solidFill>
              <a:srgbClr val="8FA3C7"/>
            </a:solidFill>
            <a:prstDash val="solid"/>
          </a:ln>
        </p:spPr>
      </p:sp>
      <p:sp>
        <p:nvSpPr>
          <p:cNvPr id="12" name="edge_10"/>
          <p:cNvSpPr/>
          <p:nvPr/>
        </p:nvSpPr>
        <p:spPr>
          <a:xfrm>
            <a:off x="6638544" y="3438144"/>
            <a:ext cx="1005840" cy="731520"/>
          </a:xfrm>
          <a:prstGeom prst="line">
            <a:avLst/>
          </a:prstGeom>
          <a:noFill/>
          <a:ln w="25400">
            <a:solidFill>
              <a:srgbClr val="8FA3C7"/>
            </a:solidFill>
            <a:prstDash val="solid"/>
          </a:ln>
        </p:spPr>
      </p:sp>
      <p:sp>
        <p:nvSpPr>
          <p:cNvPr id="13" name="node_11"/>
          <p:cNvSpPr/>
          <p:nvPr/>
        </p:nvSpPr>
        <p:spPr>
          <a:xfrm>
            <a:off x="6492240" y="914400"/>
            <a:ext cx="658368" cy="658368"/>
          </a:xfrm>
          <a:prstGeom prst="ellipse">
            <a:avLst/>
          </a:prstGeom>
          <a:solidFill>
            <a:srgbClr val="0B7F8B"/>
          </a:solidFill>
          <a:ln w="19050">
            <a:solidFill>
              <a:schemeClr val="tx2"/>
            </a:solidFill>
            <a:prstDash val="solid"/>
          </a:ln>
        </p:spPr>
      </p:sp>
      <p:sp>
        <p:nvSpPr>
          <p:cNvPr id="14" name="node_12"/>
          <p:cNvSpPr/>
          <p:nvPr/>
        </p:nvSpPr>
        <p:spPr>
          <a:xfrm>
            <a:off x="7955280" y="731520"/>
            <a:ext cx="658368" cy="658368"/>
          </a:xfrm>
          <a:prstGeom prst="ellipse">
            <a:avLst/>
          </a:prstGeom>
          <a:solidFill>
            <a:srgbClr val="6B5CE7"/>
          </a:solidFill>
          <a:ln w="19050">
            <a:solidFill>
              <a:schemeClr val="tx2"/>
            </a:solidFill>
            <a:prstDash val="solid"/>
          </a:ln>
        </p:spPr>
      </p:sp>
      <p:sp>
        <p:nvSpPr>
          <p:cNvPr id="15" name="node_13"/>
          <p:cNvSpPr/>
          <p:nvPr/>
        </p:nvSpPr>
        <p:spPr>
          <a:xfrm>
            <a:off x="7223760" y="2011680"/>
            <a:ext cx="658368" cy="658368"/>
          </a:xfrm>
          <a:prstGeom prst="ellipse">
            <a:avLst/>
          </a:prstGeom>
          <a:solidFill>
            <a:srgbClr val="D9482B"/>
          </a:solidFill>
          <a:ln w="19050">
            <a:solidFill>
              <a:schemeClr val="tx2"/>
            </a:solidFill>
            <a:prstDash val="solid"/>
          </a:ln>
        </p:spPr>
      </p:sp>
      <p:sp>
        <p:nvSpPr>
          <p:cNvPr id="16" name="node_14"/>
          <p:cNvSpPr/>
          <p:nvPr/>
        </p:nvSpPr>
        <p:spPr>
          <a:xfrm>
            <a:off x="8138160" y="2651760"/>
            <a:ext cx="658368" cy="658368"/>
          </a:xfrm>
          <a:prstGeom prst="ellipse">
            <a:avLst/>
          </a:prstGeom>
          <a:solidFill>
            <a:srgbClr val="0B7F8B"/>
          </a:solidFill>
          <a:ln w="19050">
            <a:solidFill>
              <a:schemeClr val="tx2"/>
            </a:solidFill>
            <a:prstDash val="solid"/>
          </a:ln>
        </p:spPr>
      </p:sp>
      <p:sp>
        <p:nvSpPr>
          <p:cNvPr id="17" name="node_15"/>
          <p:cNvSpPr/>
          <p:nvPr/>
        </p:nvSpPr>
        <p:spPr>
          <a:xfrm>
            <a:off x="6309360" y="3108960"/>
            <a:ext cx="658368" cy="658368"/>
          </a:xfrm>
          <a:prstGeom prst="ellipse">
            <a:avLst/>
          </a:prstGeom>
          <a:solidFill>
            <a:srgbClr val="6B5CE7"/>
          </a:solidFill>
          <a:ln w="19050">
            <a:solidFill>
              <a:schemeClr val="tx2"/>
            </a:solidFill>
            <a:prstDash val="solid"/>
          </a:ln>
        </p:spPr>
      </p:sp>
      <p:sp>
        <p:nvSpPr>
          <p:cNvPr id="18" name="node_16"/>
          <p:cNvSpPr/>
          <p:nvPr/>
        </p:nvSpPr>
        <p:spPr>
          <a:xfrm>
            <a:off x="7315200" y="3840480"/>
            <a:ext cx="658368" cy="658368"/>
          </a:xfrm>
          <a:prstGeom prst="ellipse">
            <a:avLst/>
          </a:prstGeom>
          <a:solidFill>
            <a:srgbClr val="D9482B"/>
          </a:solidFill>
          <a:ln w="19050">
            <a:solidFill>
              <a:schemeClr val="tx2"/>
            </a:solidFill>
            <a:prstDash val="solid"/>
          </a:ln>
        </p:spPr>
      </p:sp>
      <p:sp>
        <p:nvSpPr>
          <p:cNvPr id="19" name="text_17"/>
          <p:cNvSpPr txBox="1"/>
          <p:nvPr/>
        </p:nvSpPr>
        <p:spPr>
          <a:xfrm>
            <a:off x="6035040" y="4617720"/>
            <a:ext cx="2926080" cy="274320"/>
          </a:xfrm>
          <a:prstGeom prst="rect">
            <a:avLst/>
          </a:prstGeom>
          <a:noFill/>
          <a:ln/>
        </p:spPr>
        <p:txBody>
          <a:bodyPr wrap="square" lIns="0" tIns="0" rIns="0" bIns="0" rtlCol="0" anchor="t"/>
          <a:lstStyle/>
          <a:p>
            <a:pPr marL="0" indent="0" algn="ctr">
              <a:buNone/>
            </a:pPr>
            <a:r>
              <a:rPr lang="en-US" sz="1200" dirty="0">
                <a:solidFill>
                  <a:srgbClr val="C9D3E6"/>
                </a:solidFill>
              </a:rPr>
              <a:t>Each colour = one time slot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Problem Statement</a:t>
            </a:r>
            <a:endParaRPr lang="en-US" sz="3600" dirty="0"/>
          </a:p>
        </p:txBody>
      </p:sp>
      <p:sp>
        <p:nvSpPr>
          <p:cNvPr id="3" name="card_18"/>
          <p:cNvSpPr/>
          <p:nvPr/>
        </p:nvSpPr>
        <p:spPr>
          <a:xfrm>
            <a:off x="457200" y="1188720"/>
            <a:ext cx="4023360" cy="1645920"/>
          </a:xfrm>
          <a:prstGeom prst="roundRect">
            <a:avLst>
              <a:gd name="adj" fmla="val 5556"/>
            </a:avLst>
          </a:prstGeom>
          <a:solidFill>
            <a:schemeClr val="bg2"/>
          </a:solidFill>
          <a:ln w="12700">
            <a:solidFill>
              <a:schemeClr val="bg2"/>
            </a:solidFill>
            <a:prstDash val="solid"/>
          </a:ln>
        </p:spPr>
      </p:sp>
      <p:sp>
        <p:nvSpPr>
          <p:cNvPr id="4" name="iconcircle_19"/>
          <p:cNvSpPr/>
          <p:nvPr/>
        </p:nvSpPr>
        <p:spPr>
          <a:xfrm>
            <a:off x="685800" y="1417320"/>
            <a:ext cx="548640" cy="548640"/>
          </a:xfrm>
          <a:prstGeom prst="ellipse">
            <a:avLst/>
          </a:prstGeom>
          <a:solidFill>
            <a:srgbClr val="0B7F8B"/>
          </a:solidFill>
          <a:ln w="12700">
            <a:solidFill>
              <a:srgbClr val="0B7F8B"/>
            </a:solidFill>
            <a:prstDash val="solid"/>
          </a:ln>
        </p:spPr>
      </p:sp>
      <p:pic>
        <p:nvPicPr>
          <p:cNvPr id="5" name="icon_20" descr="preencoded.png"/>
          <p:cNvPicPr>
            <a:picLocks noChangeAspect="1"/>
          </p:cNvPicPr>
          <p:nvPr/>
        </p:nvPicPr>
        <p:blipFill>
          <a:blip r:embed="rId3"/>
          <a:stretch>
            <a:fillRect/>
          </a:stretch>
        </p:blipFill>
        <p:spPr>
          <a:xfrm>
            <a:off x="806501" y="1538021"/>
            <a:ext cx="307238" cy="307238"/>
          </a:xfrm>
          <a:prstGeom prst="rect">
            <a:avLst/>
          </a:prstGeom>
        </p:spPr>
      </p:pic>
      <p:sp>
        <p:nvSpPr>
          <p:cNvPr id="6" name="text_21"/>
          <p:cNvSpPr txBox="1"/>
          <p:nvPr/>
        </p:nvSpPr>
        <p:spPr>
          <a:xfrm>
            <a:off x="1417320" y="1417320"/>
            <a:ext cx="2880360" cy="548640"/>
          </a:xfrm>
          <a:prstGeom prst="rect">
            <a:avLst/>
          </a:prstGeom>
          <a:noFill/>
          <a:ln/>
        </p:spPr>
        <p:txBody>
          <a:bodyPr wrap="square" lIns="0" tIns="0" rIns="0" bIns="0" rtlCol="0" anchor="ctr"/>
          <a:lstStyle/>
          <a:p>
            <a:pPr marL="0" indent="0">
              <a:buNone/>
            </a:pPr>
            <a:r>
              <a:rPr lang="en-US" sz="2000" b="1" dirty="0">
                <a:solidFill>
                  <a:schemeClr val="tx2"/>
                </a:solidFill>
              </a:rPr>
              <a:t>Input</a:t>
            </a:r>
            <a:endParaRPr lang="en-US" sz="2000" dirty="0"/>
          </a:p>
        </p:txBody>
      </p:sp>
      <p:sp>
        <p:nvSpPr>
          <p:cNvPr id="7" name="text_22"/>
          <p:cNvSpPr txBox="1"/>
          <p:nvPr/>
        </p:nvSpPr>
        <p:spPr>
          <a:xfrm>
            <a:off x="685800" y="2057400"/>
            <a:ext cx="3566160" cy="731520"/>
          </a:xfrm>
          <a:prstGeom prst="rect">
            <a:avLst/>
          </a:prstGeom>
          <a:noFill/>
          <a:ln/>
        </p:spPr>
        <p:txBody>
          <a:bodyPr wrap="square" lIns="0" tIns="0" rIns="0" bIns="0" rtlCol="0" anchor="t"/>
          <a:lstStyle/>
          <a:p>
            <a:pPr marL="0" indent="0">
              <a:buNone/>
            </a:pPr>
            <a:r>
              <a:rPr lang="en-US" sz="1400" dirty="0">
                <a:solidFill>
                  <a:schemeClr val="tx1"/>
                </a:solidFill>
              </a:rPr>
              <a:t>Lectures (subject, teacher, student group), the number of rooms, and a weekly grid of 5 days x 6 periods = 30 slots.</a:t>
            </a:r>
            <a:endParaRPr lang="en-US" sz="1400" dirty="0"/>
          </a:p>
        </p:txBody>
      </p:sp>
      <p:sp>
        <p:nvSpPr>
          <p:cNvPr id="8" name="card_23"/>
          <p:cNvSpPr/>
          <p:nvPr/>
        </p:nvSpPr>
        <p:spPr>
          <a:xfrm>
            <a:off x="4663440" y="1188720"/>
            <a:ext cx="4023360" cy="1645920"/>
          </a:xfrm>
          <a:prstGeom prst="roundRect">
            <a:avLst>
              <a:gd name="adj" fmla="val 5556"/>
            </a:avLst>
          </a:prstGeom>
          <a:solidFill>
            <a:schemeClr val="bg2"/>
          </a:solidFill>
          <a:ln w="12700">
            <a:solidFill>
              <a:schemeClr val="bg2"/>
            </a:solidFill>
            <a:prstDash val="solid"/>
          </a:ln>
        </p:spPr>
      </p:sp>
      <p:sp>
        <p:nvSpPr>
          <p:cNvPr id="9" name="iconcircle_24"/>
          <p:cNvSpPr/>
          <p:nvPr/>
        </p:nvSpPr>
        <p:spPr>
          <a:xfrm>
            <a:off x="4892040" y="1417320"/>
            <a:ext cx="548640" cy="548640"/>
          </a:xfrm>
          <a:prstGeom prst="ellipse">
            <a:avLst/>
          </a:prstGeom>
          <a:solidFill>
            <a:srgbClr val="6B5CE7"/>
          </a:solidFill>
          <a:ln w="12700">
            <a:solidFill>
              <a:srgbClr val="6B5CE7"/>
            </a:solidFill>
            <a:prstDash val="solid"/>
          </a:ln>
        </p:spPr>
      </p:sp>
      <p:pic>
        <p:nvPicPr>
          <p:cNvPr id="10" name="icon_25" descr="preencoded.png"/>
          <p:cNvPicPr>
            <a:picLocks noChangeAspect="1"/>
          </p:cNvPicPr>
          <p:nvPr/>
        </p:nvPicPr>
        <p:blipFill>
          <a:blip r:embed="rId4"/>
          <a:stretch>
            <a:fillRect/>
          </a:stretch>
        </p:blipFill>
        <p:spPr>
          <a:xfrm>
            <a:off x="5012741" y="1538021"/>
            <a:ext cx="307238" cy="307238"/>
          </a:xfrm>
          <a:prstGeom prst="rect">
            <a:avLst/>
          </a:prstGeom>
        </p:spPr>
      </p:pic>
      <p:sp>
        <p:nvSpPr>
          <p:cNvPr id="11" name="text_26"/>
          <p:cNvSpPr txBox="1"/>
          <p:nvPr/>
        </p:nvSpPr>
        <p:spPr>
          <a:xfrm>
            <a:off x="5623560" y="1417320"/>
            <a:ext cx="2880360" cy="548640"/>
          </a:xfrm>
          <a:prstGeom prst="rect">
            <a:avLst/>
          </a:prstGeom>
          <a:noFill/>
          <a:ln/>
        </p:spPr>
        <p:txBody>
          <a:bodyPr wrap="square" lIns="0" tIns="0" rIns="0" bIns="0" rtlCol="0" anchor="ctr"/>
          <a:lstStyle/>
          <a:p>
            <a:pPr marL="0" indent="0">
              <a:buNone/>
            </a:pPr>
            <a:r>
              <a:rPr lang="en-US" sz="2000" b="1" dirty="0">
                <a:solidFill>
                  <a:schemeClr val="tx2"/>
                </a:solidFill>
              </a:rPr>
              <a:t>Output</a:t>
            </a:r>
            <a:endParaRPr lang="en-US" sz="2000" dirty="0"/>
          </a:p>
        </p:txBody>
      </p:sp>
      <p:sp>
        <p:nvSpPr>
          <p:cNvPr id="12" name="text_27"/>
          <p:cNvSpPr txBox="1"/>
          <p:nvPr/>
        </p:nvSpPr>
        <p:spPr>
          <a:xfrm>
            <a:off x="4892040" y="2057400"/>
            <a:ext cx="3566160" cy="731520"/>
          </a:xfrm>
          <a:prstGeom prst="rect">
            <a:avLst/>
          </a:prstGeom>
          <a:noFill/>
          <a:ln/>
        </p:spPr>
        <p:txBody>
          <a:bodyPr wrap="square" lIns="0" tIns="0" rIns="0" bIns="0" rtlCol="0" anchor="t"/>
          <a:lstStyle/>
          <a:p>
            <a:pPr marL="0" indent="0">
              <a:buNone/>
            </a:pPr>
            <a:r>
              <a:rPr lang="en-US" sz="1400" dirty="0">
                <a:solidFill>
                  <a:schemeClr val="tx1"/>
                </a:solidFill>
              </a:rPr>
              <a:t>A clash-free weekly timetable: every class gets one time slot and one room.</a:t>
            </a:r>
            <a:endParaRPr lang="en-US" sz="1400" dirty="0"/>
          </a:p>
        </p:txBody>
      </p:sp>
      <p:sp>
        <p:nvSpPr>
          <p:cNvPr id="13" name="card_28"/>
          <p:cNvSpPr/>
          <p:nvPr/>
        </p:nvSpPr>
        <p:spPr>
          <a:xfrm>
            <a:off x="457200" y="2971800"/>
            <a:ext cx="4023360" cy="1645920"/>
          </a:xfrm>
          <a:prstGeom prst="roundRect">
            <a:avLst>
              <a:gd name="adj" fmla="val 5556"/>
            </a:avLst>
          </a:prstGeom>
          <a:solidFill>
            <a:schemeClr val="bg2"/>
          </a:solidFill>
          <a:ln w="12700">
            <a:solidFill>
              <a:schemeClr val="bg2"/>
            </a:solidFill>
            <a:prstDash val="solid"/>
          </a:ln>
        </p:spPr>
      </p:sp>
      <p:sp>
        <p:nvSpPr>
          <p:cNvPr id="14" name="iconcircle_29"/>
          <p:cNvSpPr/>
          <p:nvPr/>
        </p:nvSpPr>
        <p:spPr>
          <a:xfrm>
            <a:off x="685800" y="3200400"/>
            <a:ext cx="548640" cy="548640"/>
          </a:xfrm>
          <a:prstGeom prst="ellipse">
            <a:avLst/>
          </a:prstGeom>
          <a:solidFill>
            <a:srgbClr val="D9482B"/>
          </a:solidFill>
          <a:ln w="12700">
            <a:solidFill>
              <a:srgbClr val="D9482B"/>
            </a:solidFill>
            <a:prstDash val="solid"/>
          </a:ln>
        </p:spPr>
      </p:sp>
      <p:pic>
        <p:nvPicPr>
          <p:cNvPr id="15" name="icon_30" descr="preencoded.png"/>
          <p:cNvPicPr>
            <a:picLocks noChangeAspect="1"/>
          </p:cNvPicPr>
          <p:nvPr/>
        </p:nvPicPr>
        <p:blipFill>
          <a:blip r:embed="rId5"/>
          <a:stretch>
            <a:fillRect/>
          </a:stretch>
        </p:blipFill>
        <p:spPr>
          <a:xfrm>
            <a:off x="806501" y="3321101"/>
            <a:ext cx="307238" cy="307238"/>
          </a:xfrm>
          <a:prstGeom prst="rect">
            <a:avLst/>
          </a:prstGeom>
        </p:spPr>
      </p:pic>
      <p:sp>
        <p:nvSpPr>
          <p:cNvPr id="16" name="text_31"/>
          <p:cNvSpPr txBox="1"/>
          <p:nvPr/>
        </p:nvSpPr>
        <p:spPr>
          <a:xfrm>
            <a:off x="1417320" y="3200400"/>
            <a:ext cx="2880360" cy="548640"/>
          </a:xfrm>
          <a:prstGeom prst="rect">
            <a:avLst/>
          </a:prstGeom>
          <a:noFill/>
          <a:ln/>
        </p:spPr>
        <p:txBody>
          <a:bodyPr wrap="square" lIns="0" tIns="0" rIns="0" bIns="0" rtlCol="0" anchor="ctr"/>
          <a:lstStyle/>
          <a:p>
            <a:pPr marL="0" indent="0">
              <a:buNone/>
            </a:pPr>
            <a:r>
              <a:rPr lang="en-US" sz="2000" b="1" dirty="0">
                <a:solidFill>
                  <a:schemeClr val="tx2"/>
                </a:solidFill>
              </a:rPr>
              <a:t>Constraints</a:t>
            </a:r>
            <a:endParaRPr lang="en-US" sz="2000" dirty="0"/>
          </a:p>
        </p:txBody>
      </p:sp>
      <p:sp>
        <p:nvSpPr>
          <p:cNvPr id="17" name="text_32"/>
          <p:cNvSpPr txBox="1"/>
          <p:nvPr/>
        </p:nvSpPr>
        <p:spPr>
          <a:xfrm>
            <a:off x="685800" y="3840480"/>
            <a:ext cx="3566160" cy="731520"/>
          </a:xfrm>
          <a:prstGeom prst="rect">
            <a:avLst/>
          </a:prstGeom>
          <a:noFill/>
          <a:ln/>
        </p:spPr>
        <p:txBody>
          <a:bodyPr wrap="square" lIns="0" tIns="0" rIns="0" bIns="0" rtlCol="0" anchor="t"/>
          <a:lstStyle/>
          <a:p>
            <a:pPr marL="0" indent="0">
              <a:buNone/>
            </a:pPr>
            <a:r>
              <a:rPr lang="en-US" sz="1400" dirty="0">
                <a:solidFill>
                  <a:schemeClr val="tx1"/>
                </a:solidFill>
              </a:rPr>
              <a:t>No teacher or student group can be in two places at once. With 3 rooms, at most 3 lectures run together.</a:t>
            </a:r>
            <a:endParaRPr lang="en-US" sz="1400" dirty="0"/>
          </a:p>
        </p:txBody>
      </p:sp>
      <p:sp>
        <p:nvSpPr>
          <p:cNvPr id="18" name="card_33"/>
          <p:cNvSpPr/>
          <p:nvPr/>
        </p:nvSpPr>
        <p:spPr>
          <a:xfrm>
            <a:off x="4663440" y="2971800"/>
            <a:ext cx="4023360" cy="1645920"/>
          </a:xfrm>
          <a:prstGeom prst="roundRect">
            <a:avLst>
              <a:gd name="adj" fmla="val 5556"/>
            </a:avLst>
          </a:prstGeom>
          <a:solidFill>
            <a:schemeClr val="bg2"/>
          </a:solidFill>
          <a:ln w="12700">
            <a:solidFill>
              <a:schemeClr val="bg2"/>
            </a:solidFill>
            <a:prstDash val="solid"/>
          </a:ln>
        </p:spPr>
      </p:sp>
      <p:sp>
        <p:nvSpPr>
          <p:cNvPr id="19" name="iconcircle_34"/>
          <p:cNvSpPr/>
          <p:nvPr/>
        </p:nvSpPr>
        <p:spPr>
          <a:xfrm>
            <a:off x="4892040" y="3200400"/>
            <a:ext cx="548640" cy="548640"/>
          </a:xfrm>
          <a:prstGeom prst="ellipse">
            <a:avLst/>
          </a:prstGeom>
          <a:solidFill>
            <a:srgbClr val="E59A1F"/>
          </a:solidFill>
          <a:ln w="12700">
            <a:solidFill>
              <a:srgbClr val="E59A1F"/>
            </a:solidFill>
            <a:prstDash val="solid"/>
          </a:ln>
        </p:spPr>
      </p:sp>
      <p:pic>
        <p:nvPicPr>
          <p:cNvPr id="20" name="icon_35" descr="preencoded.png"/>
          <p:cNvPicPr>
            <a:picLocks noChangeAspect="1"/>
          </p:cNvPicPr>
          <p:nvPr/>
        </p:nvPicPr>
        <p:blipFill>
          <a:blip r:embed="rId6"/>
          <a:stretch>
            <a:fillRect/>
          </a:stretch>
        </p:blipFill>
        <p:spPr>
          <a:xfrm>
            <a:off x="5012741" y="3321101"/>
            <a:ext cx="307238" cy="307238"/>
          </a:xfrm>
          <a:prstGeom prst="rect">
            <a:avLst/>
          </a:prstGeom>
        </p:spPr>
      </p:pic>
      <p:sp>
        <p:nvSpPr>
          <p:cNvPr id="21" name="text_36"/>
          <p:cNvSpPr txBox="1"/>
          <p:nvPr/>
        </p:nvSpPr>
        <p:spPr>
          <a:xfrm>
            <a:off x="5623560" y="3200400"/>
            <a:ext cx="2880360" cy="548640"/>
          </a:xfrm>
          <a:prstGeom prst="rect">
            <a:avLst/>
          </a:prstGeom>
          <a:noFill/>
          <a:ln/>
        </p:spPr>
        <p:txBody>
          <a:bodyPr wrap="square" lIns="0" tIns="0" rIns="0" bIns="0" rtlCol="0" anchor="ctr"/>
          <a:lstStyle/>
          <a:p>
            <a:pPr marL="0" indent="0">
              <a:buNone/>
            </a:pPr>
            <a:r>
              <a:rPr lang="en-US" sz="2000" b="1" dirty="0">
                <a:solidFill>
                  <a:schemeClr val="tx2"/>
                </a:solidFill>
              </a:rPr>
              <a:t>Objective</a:t>
            </a:r>
            <a:endParaRPr lang="en-US" sz="2000" dirty="0"/>
          </a:p>
        </p:txBody>
      </p:sp>
      <p:sp>
        <p:nvSpPr>
          <p:cNvPr id="22" name="text_37"/>
          <p:cNvSpPr txBox="1"/>
          <p:nvPr/>
        </p:nvSpPr>
        <p:spPr>
          <a:xfrm>
            <a:off x="4892040" y="3840480"/>
            <a:ext cx="3566160" cy="731520"/>
          </a:xfrm>
          <a:prstGeom prst="rect">
            <a:avLst/>
          </a:prstGeom>
          <a:noFill/>
          <a:ln/>
        </p:spPr>
        <p:txBody>
          <a:bodyPr wrap="square" lIns="0" tIns="0" rIns="0" bIns="0" rtlCol="0" anchor="t"/>
          <a:lstStyle/>
          <a:p>
            <a:pPr marL="0" indent="0">
              <a:buNone/>
            </a:pPr>
            <a:r>
              <a:rPr lang="en-US" sz="1400" dirty="0">
                <a:solidFill>
                  <a:schemeClr val="tx1"/>
                </a:solidFill>
              </a:rPr>
              <a:t>Use the fewest time slots possible (closest to the theoretical lower bound) in very little time.</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Motivation &amp; Real-World Use</a:t>
            </a:r>
            <a:endParaRPr lang="en-US" sz="3600" dirty="0"/>
          </a:p>
        </p:txBody>
      </p:sp>
      <p:sp>
        <p:nvSpPr>
          <p:cNvPr id="3" name="card_38"/>
          <p:cNvSpPr/>
          <p:nvPr/>
        </p:nvSpPr>
        <p:spPr>
          <a:xfrm>
            <a:off x="457200" y="1188720"/>
            <a:ext cx="2624328" cy="3474720"/>
          </a:xfrm>
          <a:prstGeom prst="roundRect">
            <a:avLst>
              <a:gd name="adj" fmla="val 3484"/>
            </a:avLst>
          </a:prstGeom>
          <a:solidFill>
            <a:schemeClr val="bg2"/>
          </a:solidFill>
          <a:ln w="12700">
            <a:solidFill>
              <a:schemeClr val="bg2"/>
            </a:solidFill>
            <a:prstDash val="solid"/>
          </a:ln>
        </p:spPr>
      </p:sp>
      <p:sp>
        <p:nvSpPr>
          <p:cNvPr id="4" name="iconcircle_39"/>
          <p:cNvSpPr/>
          <p:nvPr/>
        </p:nvSpPr>
        <p:spPr>
          <a:xfrm>
            <a:off x="685800" y="1417320"/>
            <a:ext cx="640080" cy="640080"/>
          </a:xfrm>
          <a:prstGeom prst="ellipse">
            <a:avLst/>
          </a:prstGeom>
          <a:solidFill>
            <a:srgbClr val="D9482B"/>
          </a:solidFill>
          <a:ln w="12700">
            <a:solidFill>
              <a:srgbClr val="D9482B"/>
            </a:solidFill>
            <a:prstDash val="solid"/>
          </a:ln>
        </p:spPr>
      </p:sp>
      <p:pic>
        <p:nvPicPr>
          <p:cNvPr id="5" name="icon_40" descr="preencoded.png"/>
          <p:cNvPicPr>
            <a:picLocks noChangeAspect="1"/>
          </p:cNvPicPr>
          <p:nvPr/>
        </p:nvPicPr>
        <p:blipFill>
          <a:blip r:embed="rId3"/>
          <a:stretch>
            <a:fillRect/>
          </a:stretch>
        </p:blipFill>
        <p:spPr>
          <a:xfrm>
            <a:off x="826618" y="1558138"/>
            <a:ext cx="358445" cy="358445"/>
          </a:xfrm>
          <a:prstGeom prst="rect">
            <a:avLst/>
          </a:prstGeom>
        </p:spPr>
      </p:pic>
      <p:sp>
        <p:nvSpPr>
          <p:cNvPr id="6" name="text_41"/>
          <p:cNvSpPr txBox="1"/>
          <p:nvPr/>
        </p:nvSpPr>
        <p:spPr>
          <a:xfrm>
            <a:off x="685800" y="2194560"/>
            <a:ext cx="2167128" cy="365760"/>
          </a:xfrm>
          <a:prstGeom prst="rect">
            <a:avLst/>
          </a:prstGeom>
          <a:noFill/>
          <a:ln/>
        </p:spPr>
        <p:txBody>
          <a:bodyPr wrap="square" lIns="0" tIns="0" rIns="0" bIns="0" rtlCol="0" anchor="t"/>
          <a:lstStyle/>
          <a:p>
            <a:pPr marL="0" indent="0">
              <a:buNone/>
            </a:pPr>
            <a:r>
              <a:rPr lang="en-US" sz="2000" b="1" dirty="0">
                <a:solidFill>
                  <a:schemeClr val="tx2"/>
                </a:solidFill>
              </a:rPr>
              <a:t>Why it matters</a:t>
            </a:r>
            <a:endParaRPr lang="en-US" sz="2000" dirty="0"/>
          </a:p>
        </p:txBody>
      </p:sp>
      <p:sp>
        <p:nvSpPr>
          <p:cNvPr id="7" name="text_42"/>
          <p:cNvSpPr txBox="1"/>
          <p:nvPr/>
        </p:nvSpPr>
        <p:spPr>
          <a:xfrm>
            <a:off x="685800" y="2697480"/>
            <a:ext cx="2167128"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Building a timetable by hand takes days</a:t>
            </a:r>
            <a:endParaRPr lang="en-US" sz="1400" dirty="0"/>
          </a:p>
          <a:p>
            <a:pPr marL="342900" indent="-342900">
              <a:spcAft>
                <a:spcPts val="500"/>
              </a:spcAft>
              <a:buSzPct val="100000"/>
              <a:buChar char="•"/>
            </a:pPr>
            <a:r>
              <a:rPr lang="en-US" sz="1400" dirty="0">
                <a:solidFill>
                  <a:schemeClr val="tx1"/>
                </a:solidFill>
              </a:rPr>
              <a:t>Clashes are found late, after students are affected</a:t>
            </a:r>
            <a:endParaRPr lang="en-US" sz="1400" dirty="0"/>
          </a:p>
          <a:p>
            <a:pPr marL="342900" indent="-342900">
              <a:spcAft>
                <a:spcPts val="500"/>
              </a:spcAft>
              <a:buSzPct val="100000"/>
              <a:buChar char="•"/>
            </a:pPr>
            <a:r>
              <a:rPr lang="en-US" sz="1400" dirty="0">
                <a:solidFill>
                  <a:schemeClr val="tx1"/>
                </a:solidFill>
              </a:rPr>
              <a:t>Wasted rooms and teacher time</a:t>
            </a:r>
            <a:endParaRPr lang="en-US" sz="1400" dirty="0"/>
          </a:p>
        </p:txBody>
      </p:sp>
      <p:sp>
        <p:nvSpPr>
          <p:cNvPr id="8" name="card_43"/>
          <p:cNvSpPr/>
          <p:nvPr/>
        </p:nvSpPr>
        <p:spPr>
          <a:xfrm>
            <a:off x="3264408" y="1188720"/>
            <a:ext cx="2624328" cy="3474720"/>
          </a:xfrm>
          <a:prstGeom prst="roundRect">
            <a:avLst>
              <a:gd name="adj" fmla="val 3484"/>
            </a:avLst>
          </a:prstGeom>
          <a:solidFill>
            <a:schemeClr val="bg2"/>
          </a:solidFill>
          <a:ln w="12700">
            <a:solidFill>
              <a:schemeClr val="bg2"/>
            </a:solidFill>
            <a:prstDash val="solid"/>
          </a:ln>
        </p:spPr>
      </p:sp>
      <p:sp>
        <p:nvSpPr>
          <p:cNvPr id="9" name="iconcircle_44"/>
          <p:cNvSpPr/>
          <p:nvPr/>
        </p:nvSpPr>
        <p:spPr>
          <a:xfrm>
            <a:off x="3493008" y="1417320"/>
            <a:ext cx="640080" cy="640080"/>
          </a:xfrm>
          <a:prstGeom prst="ellipse">
            <a:avLst/>
          </a:prstGeom>
          <a:solidFill>
            <a:srgbClr val="0B7F8B"/>
          </a:solidFill>
          <a:ln w="12700">
            <a:solidFill>
              <a:srgbClr val="0B7F8B"/>
            </a:solidFill>
            <a:prstDash val="solid"/>
          </a:ln>
        </p:spPr>
      </p:sp>
      <p:pic>
        <p:nvPicPr>
          <p:cNvPr id="10" name="icon_45" descr="preencoded.png"/>
          <p:cNvPicPr>
            <a:picLocks noChangeAspect="1"/>
          </p:cNvPicPr>
          <p:nvPr/>
        </p:nvPicPr>
        <p:blipFill>
          <a:blip r:embed="rId4"/>
          <a:stretch>
            <a:fillRect/>
          </a:stretch>
        </p:blipFill>
        <p:spPr>
          <a:xfrm>
            <a:off x="3633826" y="1558138"/>
            <a:ext cx="358445" cy="358445"/>
          </a:xfrm>
          <a:prstGeom prst="rect">
            <a:avLst/>
          </a:prstGeom>
        </p:spPr>
      </p:pic>
      <p:sp>
        <p:nvSpPr>
          <p:cNvPr id="11" name="text_46"/>
          <p:cNvSpPr txBox="1"/>
          <p:nvPr/>
        </p:nvSpPr>
        <p:spPr>
          <a:xfrm>
            <a:off x="3493008" y="2194560"/>
            <a:ext cx="2167128" cy="365760"/>
          </a:xfrm>
          <a:prstGeom prst="rect">
            <a:avLst/>
          </a:prstGeom>
          <a:noFill/>
          <a:ln/>
        </p:spPr>
        <p:txBody>
          <a:bodyPr wrap="square" lIns="0" tIns="0" rIns="0" bIns="0" rtlCol="0" anchor="t"/>
          <a:lstStyle/>
          <a:p>
            <a:pPr marL="0" indent="0">
              <a:buNone/>
            </a:pPr>
            <a:r>
              <a:rPr lang="en-US" sz="2000" b="1" dirty="0">
                <a:solidFill>
                  <a:schemeClr val="tx2"/>
                </a:solidFill>
              </a:rPr>
              <a:t>Where it is used</a:t>
            </a:r>
            <a:endParaRPr lang="en-US" sz="2000" dirty="0"/>
          </a:p>
        </p:txBody>
      </p:sp>
      <p:sp>
        <p:nvSpPr>
          <p:cNvPr id="12" name="text_47"/>
          <p:cNvSpPr txBox="1"/>
          <p:nvPr/>
        </p:nvSpPr>
        <p:spPr>
          <a:xfrm>
            <a:off x="3493008" y="2697480"/>
            <a:ext cx="2167128"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Universities, colleges and schools</a:t>
            </a:r>
            <a:endParaRPr lang="en-US" sz="1400" dirty="0"/>
          </a:p>
          <a:p>
            <a:pPr marL="342900" indent="-342900">
              <a:spcAft>
                <a:spcPts val="500"/>
              </a:spcAft>
              <a:buSzPct val="100000"/>
              <a:buChar char="•"/>
            </a:pPr>
            <a:r>
              <a:rPr lang="en-US" sz="1400" dirty="0">
                <a:solidFill>
                  <a:schemeClr val="tx1"/>
                </a:solidFill>
              </a:rPr>
              <a:t>Exam scheduling</a:t>
            </a:r>
            <a:endParaRPr lang="en-US" sz="1400" dirty="0"/>
          </a:p>
          <a:p>
            <a:pPr marL="342900" indent="-342900">
              <a:spcAft>
                <a:spcPts val="500"/>
              </a:spcAft>
              <a:buSzPct val="100000"/>
              <a:buChar char="•"/>
            </a:pPr>
            <a:r>
              <a:rPr lang="en-US" sz="1400" dirty="0">
                <a:solidFill>
                  <a:schemeClr val="tx1"/>
                </a:solidFill>
              </a:rPr>
              <a:t>Shift and roster planning (same graph idea)</a:t>
            </a:r>
            <a:endParaRPr lang="en-US" sz="1400" dirty="0"/>
          </a:p>
        </p:txBody>
      </p:sp>
      <p:sp>
        <p:nvSpPr>
          <p:cNvPr id="13" name="card_48"/>
          <p:cNvSpPr/>
          <p:nvPr/>
        </p:nvSpPr>
        <p:spPr>
          <a:xfrm>
            <a:off x="6071616" y="1188720"/>
            <a:ext cx="2624328" cy="3474720"/>
          </a:xfrm>
          <a:prstGeom prst="roundRect">
            <a:avLst>
              <a:gd name="adj" fmla="val 3484"/>
            </a:avLst>
          </a:prstGeom>
          <a:solidFill>
            <a:schemeClr val="bg2"/>
          </a:solidFill>
          <a:ln w="12700">
            <a:solidFill>
              <a:schemeClr val="bg2"/>
            </a:solidFill>
            <a:prstDash val="solid"/>
          </a:ln>
        </p:spPr>
      </p:sp>
      <p:sp>
        <p:nvSpPr>
          <p:cNvPr id="14" name="iconcircle_49"/>
          <p:cNvSpPr/>
          <p:nvPr/>
        </p:nvSpPr>
        <p:spPr>
          <a:xfrm>
            <a:off x="6300216" y="1417320"/>
            <a:ext cx="640080" cy="640080"/>
          </a:xfrm>
          <a:prstGeom prst="ellipse">
            <a:avLst/>
          </a:prstGeom>
          <a:solidFill>
            <a:srgbClr val="6B5CE7"/>
          </a:solidFill>
          <a:ln w="12700">
            <a:solidFill>
              <a:srgbClr val="6B5CE7"/>
            </a:solidFill>
            <a:prstDash val="solid"/>
          </a:ln>
        </p:spPr>
      </p:sp>
      <p:pic>
        <p:nvPicPr>
          <p:cNvPr id="15" name="icon_50" descr="preencoded.png"/>
          <p:cNvPicPr>
            <a:picLocks noChangeAspect="1"/>
          </p:cNvPicPr>
          <p:nvPr/>
        </p:nvPicPr>
        <p:blipFill>
          <a:blip r:embed="rId5"/>
          <a:stretch>
            <a:fillRect/>
          </a:stretch>
        </p:blipFill>
        <p:spPr>
          <a:xfrm>
            <a:off x="6441034" y="1558138"/>
            <a:ext cx="358445" cy="358445"/>
          </a:xfrm>
          <a:prstGeom prst="rect">
            <a:avLst/>
          </a:prstGeom>
        </p:spPr>
      </p:pic>
      <p:sp>
        <p:nvSpPr>
          <p:cNvPr id="16" name="text_51"/>
          <p:cNvSpPr txBox="1"/>
          <p:nvPr/>
        </p:nvSpPr>
        <p:spPr>
          <a:xfrm>
            <a:off x="6300216" y="2194560"/>
            <a:ext cx="2167128" cy="365760"/>
          </a:xfrm>
          <a:prstGeom prst="rect">
            <a:avLst/>
          </a:prstGeom>
          <a:noFill/>
          <a:ln/>
        </p:spPr>
        <p:txBody>
          <a:bodyPr wrap="square" lIns="0" tIns="0" rIns="0" bIns="0" rtlCol="0" anchor="t"/>
          <a:lstStyle/>
          <a:p>
            <a:pPr marL="0" indent="0">
              <a:buNone/>
            </a:pPr>
            <a:r>
              <a:rPr lang="en-US" sz="2000" b="1" dirty="0">
                <a:solidFill>
                  <a:schemeClr val="tx2"/>
                </a:solidFill>
              </a:rPr>
              <a:t>Who benefits</a:t>
            </a:r>
            <a:endParaRPr lang="en-US" sz="2000" dirty="0"/>
          </a:p>
        </p:txBody>
      </p:sp>
      <p:sp>
        <p:nvSpPr>
          <p:cNvPr id="17" name="text_52"/>
          <p:cNvSpPr txBox="1"/>
          <p:nvPr/>
        </p:nvSpPr>
        <p:spPr>
          <a:xfrm>
            <a:off x="6300216" y="2697480"/>
            <a:ext cx="2167128"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Students: no clashing lectures</a:t>
            </a:r>
            <a:endParaRPr lang="en-US" sz="1400" dirty="0"/>
          </a:p>
          <a:p>
            <a:pPr marL="342900" indent="-342900">
              <a:spcAft>
                <a:spcPts val="500"/>
              </a:spcAft>
              <a:buSzPct val="100000"/>
              <a:buChar char="•"/>
            </a:pPr>
            <a:r>
              <a:rPr lang="en-US" sz="1400" dirty="0">
                <a:solidFill>
                  <a:schemeClr val="tx1"/>
                </a:solidFill>
              </a:rPr>
              <a:t>Teachers: valid, fair schedules</a:t>
            </a:r>
            <a:endParaRPr lang="en-US" sz="1400" dirty="0"/>
          </a:p>
          <a:p>
            <a:pPr marL="342900" indent="-342900">
              <a:spcAft>
                <a:spcPts val="500"/>
              </a:spcAft>
              <a:buSzPct val="100000"/>
              <a:buChar char="•"/>
            </a:pPr>
            <a:r>
              <a:rPr lang="en-US" sz="1400" dirty="0">
                <a:solidFill>
                  <a:schemeClr val="tx1"/>
                </a:solidFill>
              </a:rPr>
              <a:t>Admin staff: saves days of manual work</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Project Objectives</a:t>
            </a:r>
            <a:endParaRPr lang="en-US" sz="3600" dirty="0"/>
          </a:p>
        </p:txBody>
      </p:sp>
      <p:sp>
        <p:nvSpPr>
          <p:cNvPr id="3" name="card_53"/>
          <p:cNvSpPr/>
          <p:nvPr/>
        </p:nvSpPr>
        <p:spPr>
          <a:xfrm>
            <a:off x="457200" y="1188720"/>
            <a:ext cx="4023360" cy="1051560"/>
          </a:xfrm>
          <a:prstGeom prst="roundRect">
            <a:avLst>
              <a:gd name="adj" fmla="val 8696"/>
            </a:avLst>
          </a:prstGeom>
          <a:solidFill>
            <a:schemeClr val="bg2"/>
          </a:solidFill>
          <a:ln w="12700">
            <a:solidFill>
              <a:schemeClr val="bg2"/>
            </a:solidFill>
            <a:prstDash val="solid"/>
          </a:ln>
        </p:spPr>
      </p:sp>
      <p:sp>
        <p:nvSpPr>
          <p:cNvPr id="4" name="num_54"/>
          <p:cNvSpPr/>
          <p:nvPr/>
        </p:nvSpPr>
        <p:spPr>
          <a:xfrm>
            <a:off x="640080" y="1463040"/>
            <a:ext cx="502920" cy="502920"/>
          </a:xfrm>
          <a:prstGeom prst="ellipse">
            <a:avLst/>
          </a:prstGeom>
          <a:solidFill>
            <a:srgbClr val="0B7F8B"/>
          </a:solidFill>
          <a:ln w="12700">
            <a:solidFill>
              <a:srgbClr val="0B7F8B"/>
            </a:solidFill>
            <a:prstDash val="solid"/>
          </a:ln>
        </p:spPr>
      </p:sp>
      <p:sp>
        <p:nvSpPr>
          <p:cNvPr id="5" name="numtxt_55"/>
          <p:cNvSpPr txBox="1"/>
          <p:nvPr/>
        </p:nvSpPr>
        <p:spPr>
          <a:xfrm>
            <a:off x="640080" y="146304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_56"/>
          <p:cNvSpPr txBox="1"/>
          <p:nvPr/>
        </p:nvSpPr>
        <p:spPr>
          <a:xfrm>
            <a:off x="1325880" y="1280160"/>
            <a:ext cx="3017520" cy="868680"/>
          </a:xfrm>
          <a:prstGeom prst="rect">
            <a:avLst/>
          </a:prstGeom>
          <a:noFill/>
          <a:ln/>
        </p:spPr>
        <p:txBody>
          <a:bodyPr wrap="square" lIns="0" tIns="0" rIns="0" bIns="0" rtlCol="0" anchor="ctr"/>
          <a:lstStyle/>
          <a:p>
            <a:pPr marL="0" indent="0">
              <a:buNone/>
            </a:pPr>
            <a:r>
              <a:rPr lang="en-US" sz="1400" dirty="0">
                <a:solidFill>
                  <a:schemeClr val="tx1"/>
                </a:solidFill>
              </a:rPr>
              <a:t>Model the timetable as a graph colouring problem (lecture = dot, clash = line, colour = time slot)</a:t>
            </a:r>
            <a:endParaRPr lang="en-US" sz="1400" dirty="0"/>
          </a:p>
        </p:txBody>
      </p:sp>
      <p:sp>
        <p:nvSpPr>
          <p:cNvPr id="7" name="card_57"/>
          <p:cNvSpPr/>
          <p:nvPr/>
        </p:nvSpPr>
        <p:spPr>
          <a:xfrm>
            <a:off x="4663440" y="1188720"/>
            <a:ext cx="4023360" cy="1051560"/>
          </a:xfrm>
          <a:prstGeom prst="roundRect">
            <a:avLst>
              <a:gd name="adj" fmla="val 8696"/>
            </a:avLst>
          </a:prstGeom>
          <a:solidFill>
            <a:schemeClr val="bg2"/>
          </a:solidFill>
          <a:ln w="12700">
            <a:solidFill>
              <a:schemeClr val="bg2"/>
            </a:solidFill>
            <a:prstDash val="solid"/>
          </a:ln>
        </p:spPr>
      </p:sp>
      <p:sp>
        <p:nvSpPr>
          <p:cNvPr id="8" name="num_58"/>
          <p:cNvSpPr/>
          <p:nvPr/>
        </p:nvSpPr>
        <p:spPr>
          <a:xfrm>
            <a:off x="4846320" y="1463040"/>
            <a:ext cx="502920" cy="502920"/>
          </a:xfrm>
          <a:prstGeom prst="ellipse">
            <a:avLst/>
          </a:prstGeom>
          <a:solidFill>
            <a:srgbClr val="6B5CE7"/>
          </a:solidFill>
          <a:ln w="12700">
            <a:solidFill>
              <a:srgbClr val="6B5CE7"/>
            </a:solidFill>
            <a:prstDash val="solid"/>
          </a:ln>
        </p:spPr>
      </p:sp>
      <p:sp>
        <p:nvSpPr>
          <p:cNvPr id="9" name="numtxt_59"/>
          <p:cNvSpPr txBox="1"/>
          <p:nvPr/>
        </p:nvSpPr>
        <p:spPr>
          <a:xfrm>
            <a:off x="4846320" y="146304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_60"/>
          <p:cNvSpPr txBox="1"/>
          <p:nvPr/>
        </p:nvSpPr>
        <p:spPr>
          <a:xfrm>
            <a:off x="5532120" y="1280160"/>
            <a:ext cx="3017520" cy="868680"/>
          </a:xfrm>
          <a:prstGeom prst="rect">
            <a:avLst/>
          </a:prstGeom>
          <a:noFill/>
          <a:ln/>
        </p:spPr>
        <p:txBody>
          <a:bodyPr wrap="square" lIns="0" tIns="0" rIns="0" bIns="0" rtlCol="0" anchor="ctr"/>
          <a:lstStyle/>
          <a:p>
            <a:pPr marL="0" indent="0">
              <a:buNone/>
            </a:pPr>
            <a:r>
              <a:rPr lang="en-US" sz="1400" dirty="0">
                <a:solidFill>
                  <a:schemeClr val="tx1"/>
                </a:solidFill>
              </a:rPr>
              <a:t>Write 3 algorithms in separate files: basic colouring, greedy and backtracking</a:t>
            </a:r>
            <a:endParaRPr lang="en-US" sz="1400" dirty="0"/>
          </a:p>
        </p:txBody>
      </p:sp>
      <p:sp>
        <p:nvSpPr>
          <p:cNvPr id="11" name="card_61"/>
          <p:cNvSpPr/>
          <p:nvPr/>
        </p:nvSpPr>
        <p:spPr>
          <a:xfrm>
            <a:off x="457200" y="2377440"/>
            <a:ext cx="4023360" cy="1051560"/>
          </a:xfrm>
          <a:prstGeom prst="roundRect">
            <a:avLst>
              <a:gd name="adj" fmla="val 8696"/>
            </a:avLst>
          </a:prstGeom>
          <a:solidFill>
            <a:schemeClr val="bg2"/>
          </a:solidFill>
          <a:ln w="12700">
            <a:solidFill>
              <a:schemeClr val="bg2"/>
            </a:solidFill>
            <a:prstDash val="solid"/>
          </a:ln>
        </p:spPr>
      </p:sp>
      <p:sp>
        <p:nvSpPr>
          <p:cNvPr id="12" name="num_62"/>
          <p:cNvSpPr/>
          <p:nvPr/>
        </p:nvSpPr>
        <p:spPr>
          <a:xfrm>
            <a:off x="640080" y="2651760"/>
            <a:ext cx="502920" cy="502920"/>
          </a:xfrm>
          <a:prstGeom prst="ellipse">
            <a:avLst/>
          </a:prstGeom>
          <a:solidFill>
            <a:srgbClr val="D9482B"/>
          </a:solidFill>
          <a:ln w="12700">
            <a:solidFill>
              <a:srgbClr val="D9482B"/>
            </a:solidFill>
            <a:prstDash val="solid"/>
          </a:ln>
        </p:spPr>
      </p:sp>
      <p:sp>
        <p:nvSpPr>
          <p:cNvPr id="13" name="numtxt_63"/>
          <p:cNvSpPr txBox="1"/>
          <p:nvPr/>
        </p:nvSpPr>
        <p:spPr>
          <a:xfrm>
            <a:off x="640080" y="26517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_64"/>
          <p:cNvSpPr txBox="1"/>
          <p:nvPr/>
        </p:nvSpPr>
        <p:spPr>
          <a:xfrm>
            <a:off x="1325880" y="2468880"/>
            <a:ext cx="3017520" cy="868680"/>
          </a:xfrm>
          <a:prstGeom prst="rect">
            <a:avLst/>
          </a:prstGeom>
          <a:noFill/>
          <a:ln/>
        </p:spPr>
        <p:txBody>
          <a:bodyPr wrap="square" lIns="0" tIns="0" rIns="0" bIns="0" rtlCol="0" anchor="ctr"/>
          <a:lstStyle/>
          <a:p>
            <a:pPr marL="0" indent="0">
              <a:buNone/>
            </a:pPr>
            <a:r>
              <a:rPr lang="en-US" sz="1400" dirty="0">
                <a:solidFill>
                  <a:schemeClr val="tx1"/>
                </a:solidFill>
              </a:rPr>
              <a:t>Guarantee 0 clashes: no teacher or group double-booked, rooms never overfull</a:t>
            </a:r>
            <a:endParaRPr lang="en-US" sz="1400" dirty="0"/>
          </a:p>
        </p:txBody>
      </p:sp>
      <p:sp>
        <p:nvSpPr>
          <p:cNvPr id="15" name="card_65"/>
          <p:cNvSpPr/>
          <p:nvPr/>
        </p:nvSpPr>
        <p:spPr>
          <a:xfrm>
            <a:off x="4663440" y="2377440"/>
            <a:ext cx="4023360" cy="1051560"/>
          </a:xfrm>
          <a:prstGeom prst="roundRect">
            <a:avLst>
              <a:gd name="adj" fmla="val 8696"/>
            </a:avLst>
          </a:prstGeom>
          <a:solidFill>
            <a:schemeClr val="bg2"/>
          </a:solidFill>
          <a:ln w="12700">
            <a:solidFill>
              <a:schemeClr val="bg2"/>
            </a:solidFill>
            <a:prstDash val="solid"/>
          </a:ln>
        </p:spPr>
      </p:sp>
      <p:sp>
        <p:nvSpPr>
          <p:cNvPr id="16" name="num_66"/>
          <p:cNvSpPr/>
          <p:nvPr/>
        </p:nvSpPr>
        <p:spPr>
          <a:xfrm>
            <a:off x="4846320" y="2651760"/>
            <a:ext cx="502920" cy="502920"/>
          </a:xfrm>
          <a:prstGeom prst="ellipse">
            <a:avLst/>
          </a:prstGeom>
          <a:solidFill>
            <a:srgbClr val="3E8E41"/>
          </a:solidFill>
          <a:ln w="12700">
            <a:solidFill>
              <a:srgbClr val="3E8E41"/>
            </a:solidFill>
            <a:prstDash val="solid"/>
          </a:ln>
        </p:spPr>
      </p:sp>
      <p:sp>
        <p:nvSpPr>
          <p:cNvPr id="17" name="numtxt_67"/>
          <p:cNvSpPr txBox="1"/>
          <p:nvPr/>
        </p:nvSpPr>
        <p:spPr>
          <a:xfrm>
            <a:off x="4846320" y="26517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text_68"/>
          <p:cNvSpPr txBox="1"/>
          <p:nvPr/>
        </p:nvSpPr>
        <p:spPr>
          <a:xfrm>
            <a:off x="5532120" y="2468880"/>
            <a:ext cx="3017520" cy="868680"/>
          </a:xfrm>
          <a:prstGeom prst="rect">
            <a:avLst/>
          </a:prstGeom>
          <a:noFill/>
          <a:ln/>
        </p:spPr>
        <p:txBody>
          <a:bodyPr wrap="square" lIns="0" tIns="0" rIns="0" bIns="0" rtlCol="0" anchor="ctr"/>
          <a:lstStyle/>
          <a:p>
            <a:pPr marL="0" indent="0">
              <a:buNone/>
            </a:pPr>
            <a:r>
              <a:rPr lang="en-US" sz="1400" dirty="0">
                <a:solidFill>
                  <a:schemeClr val="tx1"/>
                </a:solidFill>
              </a:rPr>
              <a:t>Test with 10, 20, 30, 50 and 100 classes and record time and slots used</a:t>
            </a:r>
            <a:endParaRPr lang="en-US" sz="1400" dirty="0"/>
          </a:p>
        </p:txBody>
      </p:sp>
      <p:sp>
        <p:nvSpPr>
          <p:cNvPr id="19" name="card_69"/>
          <p:cNvSpPr/>
          <p:nvPr/>
        </p:nvSpPr>
        <p:spPr>
          <a:xfrm>
            <a:off x="457200" y="3566160"/>
            <a:ext cx="4023360" cy="1051560"/>
          </a:xfrm>
          <a:prstGeom prst="roundRect">
            <a:avLst>
              <a:gd name="adj" fmla="val 8696"/>
            </a:avLst>
          </a:prstGeom>
          <a:solidFill>
            <a:schemeClr val="bg2"/>
          </a:solidFill>
          <a:ln w="12700">
            <a:solidFill>
              <a:schemeClr val="bg2"/>
            </a:solidFill>
            <a:prstDash val="solid"/>
          </a:ln>
        </p:spPr>
      </p:sp>
      <p:sp>
        <p:nvSpPr>
          <p:cNvPr id="20" name="num_70"/>
          <p:cNvSpPr/>
          <p:nvPr/>
        </p:nvSpPr>
        <p:spPr>
          <a:xfrm>
            <a:off x="640080" y="3840480"/>
            <a:ext cx="502920" cy="502920"/>
          </a:xfrm>
          <a:prstGeom prst="ellipse">
            <a:avLst/>
          </a:prstGeom>
          <a:solidFill>
            <a:srgbClr val="0B7F8B"/>
          </a:solidFill>
          <a:ln w="12700">
            <a:solidFill>
              <a:srgbClr val="0B7F8B"/>
            </a:solidFill>
            <a:prstDash val="solid"/>
          </a:ln>
        </p:spPr>
      </p:sp>
      <p:sp>
        <p:nvSpPr>
          <p:cNvPr id="21" name="numtxt_71"/>
          <p:cNvSpPr txBox="1"/>
          <p:nvPr/>
        </p:nvSpPr>
        <p:spPr>
          <a:xfrm>
            <a:off x="640080" y="3840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2" name="text_72"/>
          <p:cNvSpPr txBox="1"/>
          <p:nvPr/>
        </p:nvSpPr>
        <p:spPr>
          <a:xfrm>
            <a:off x="1325880" y="3657600"/>
            <a:ext cx="3017520" cy="868680"/>
          </a:xfrm>
          <a:prstGeom prst="rect">
            <a:avLst/>
          </a:prstGeom>
          <a:noFill/>
          <a:ln/>
        </p:spPr>
        <p:txBody>
          <a:bodyPr wrap="square" lIns="0" tIns="0" rIns="0" bIns="0" rtlCol="0" anchor="ctr"/>
          <a:lstStyle/>
          <a:p>
            <a:pPr marL="0" indent="0">
              <a:buNone/>
            </a:pPr>
            <a:r>
              <a:rPr lang="en-US" sz="1400" dirty="0">
                <a:solidFill>
                  <a:schemeClr val="tx1"/>
                </a:solidFill>
              </a:rPr>
              <a:t>Compare theoretical complexity with the measured results</a:t>
            </a:r>
            <a:endParaRPr lang="en-US" sz="1400" dirty="0"/>
          </a:p>
        </p:txBody>
      </p:sp>
      <p:sp>
        <p:nvSpPr>
          <p:cNvPr id="23" name="card_73"/>
          <p:cNvSpPr/>
          <p:nvPr/>
        </p:nvSpPr>
        <p:spPr>
          <a:xfrm>
            <a:off x="4663440" y="3566160"/>
            <a:ext cx="4023360" cy="1051560"/>
          </a:xfrm>
          <a:prstGeom prst="roundRect">
            <a:avLst>
              <a:gd name="adj" fmla="val 8696"/>
            </a:avLst>
          </a:prstGeom>
          <a:solidFill>
            <a:schemeClr val="bg2"/>
          </a:solidFill>
          <a:ln w="12700">
            <a:solidFill>
              <a:schemeClr val="bg2"/>
            </a:solidFill>
            <a:prstDash val="solid"/>
          </a:ln>
        </p:spPr>
      </p:sp>
      <p:sp>
        <p:nvSpPr>
          <p:cNvPr id="24" name="num_74"/>
          <p:cNvSpPr/>
          <p:nvPr/>
        </p:nvSpPr>
        <p:spPr>
          <a:xfrm>
            <a:off x="4846320" y="3840480"/>
            <a:ext cx="502920" cy="502920"/>
          </a:xfrm>
          <a:prstGeom prst="ellipse">
            <a:avLst/>
          </a:prstGeom>
          <a:solidFill>
            <a:srgbClr val="6B5CE7"/>
          </a:solidFill>
          <a:ln w="12700">
            <a:solidFill>
              <a:srgbClr val="6B5CE7"/>
            </a:solidFill>
            <a:prstDash val="solid"/>
          </a:ln>
        </p:spPr>
      </p:sp>
      <p:sp>
        <p:nvSpPr>
          <p:cNvPr id="25" name="numtxt_75"/>
          <p:cNvSpPr txBox="1"/>
          <p:nvPr/>
        </p:nvSpPr>
        <p:spPr>
          <a:xfrm>
            <a:off x="4846320" y="3840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6" name="text_76"/>
          <p:cNvSpPr txBox="1"/>
          <p:nvPr/>
        </p:nvSpPr>
        <p:spPr>
          <a:xfrm>
            <a:off x="5532120" y="3657600"/>
            <a:ext cx="3017520" cy="868680"/>
          </a:xfrm>
          <a:prstGeom prst="rect">
            <a:avLst/>
          </a:prstGeom>
          <a:noFill/>
          <a:ln/>
        </p:spPr>
        <p:txBody>
          <a:bodyPr wrap="square" lIns="0" tIns="0" rIns="0" bIns="0" rtlCol="0" anchor="ctr"/>
          <a:lstStyle/>
          <a:p>
            <a:pPr marL="0" indent="0">
              <a:buNone/>
            </a:pPr>
            <a:r>
              <a:rPr lang="en-US" sz="1400" dirty="0">
                <a:solidFill>
                  <a:schemeClr val="tx1"/>
                </a:solidFill>
              </a:rPr>
              <a:t>Build a simple GUI and a step-by-step page that explains how it works</a:t>
            </a:r>
            <a:endParaRPr lang="en-US" sz="1400" dirty="0"/>
          </a:p>
        </p:txBody>
      </p:sp>
      <p:sp>
        <p:nvSpPr>
          <p:cNvPr id="27"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Existing Approach</a:t>
            </a:r>
            <a:endParaRPr lang="en-US" sz="3600" dirty="0"/>
          </a:p>
        </p:txBody>
      </p:sp>
      <p:sp>
        <p:nvSpPr>
          <p:cNvPr id="3" name="card_77"/>
          <p:cNvSpPr/>
          <p:nvPr/>
        </p:nvSpPr>
        <p:spPr>
          <a:xfrm>
            <a:off x="457200" y="1188720"/>
            <a:ext cx="4023360" cy="3474720"/>
          </a:xfrm>
          <a:prstGeom prst="roundRect">
            <a:avLst>
              <a:gd name="adj" fmla="val 2632"/>
            </a:avLst>
          </a:prstGeom>
          <a:solidFill>
            <a:schemeClr val="bg2"/>
          </a:solidFill>
          <a:ln w="12700">
            <a:solidFill>
              <a:schemeClr val="bg2"/>
            </a:solidFill>
            <a:prstDash val="solid"/>
          </a:ln>
        </p:spPr>
      </p:sp>
      <p:sp>
        <p:nvSpPr>
          <p:cNvPr id="4" name="text_78"/>
          <p:cNvSpPr txBox="1"/>
          <p:nvPr/>
        </p:nvSpPr>
        <p:spPr>
          <a:xfrm>
            <a:off x="685800" y="1371600"/>
            <a:ext cx="3566160" cy="365760"/>
          </a:xfrm>
          <a:prstGeom prst="rect">
            <a:avLst/>
          </a:prstGeom>
          <a:noFill/>
          <a:ln/>
        </p:spPr>
        <p:txBody>
          <a:bodyPr wrap="square" lIns="0" tIns="0" rIns="0" bIns="0" rtlCol="0" anchor="t"/>
          <a:lstStyle/>
          <a:p>
            <a:pPr marL="0" indent="0">
              <a:buNone/>
            </a:pPr>
            <a:r>
              <a:rPr lang="en-US" sz="2000" b="1" dirty="0">
                <a:solidFill>
                  <a:schemeClr val="tx2"/>
                </a:solidFill>
              </a:rPr>
              <a:t>Manual scheduling</a:t>
            </a:r>
            <a:endParaRPr lang="en-US" sz="2000" dirty="0"/>
          </a:p>
        </p:txBody>
      </p:sp>
      <p:sp>
        <p:nvSpPr>
          <p:cNvPr id="5" name="text_79"/>
          <p:cNvSpPr txBox="1"/>
          <p:nvPr/>
        </p:nvSpPr>
        <p:spPr>
          <a:xfrm>
            <a:off x="685800" y="1783080"/>
            <a:ext cx="3566160" cy="640080"/>
          </a:xfrm>
          <a:prstGeom prst="rect">
            <a:avLst/>
          </a:prstGeom>
          <a:noFill/>
          <a:ln/>
        </p:spPr>
        <p:txBody>
          <a:bodyPr wrap="square" lIns="0" tIns="0" rIns="0" bIns="0" rtlCol="0" anchor="t"/>
          <a:lstStyle/>
          <a:p>
            <a:pPr marL="0" indent="0">
              <a:buNone/>
            </a:pPr>
            <a:r>
              <a:rPr lang="en-US" sz="1400" dirty="0">
                <a:solidFill>
                  <a:schemeClr val="tx1"/>
                </a:solidFill>
              </a:rPr>
              <a:t>Staff place classes by hand or with simple first-come scheduling.</a:t>
            </a:r>
            <a:endParaRPr lang="en-US" sz="1400" dirty="0"/>
          </a:p>
        </p:txBody>
      </p:sp>
      <p:sp>
        <p:nvSpPr>
          <p:cNvPr id="6" name="text_80"/>
          <p:cNvSpPr txBox="1"/>
          <p:nvPr/>
        </p:nvSpPr>
        <p:spPr>
          <a:xfrm>
            <a:off x="685800" y="2514600"/>
            <a:ext cx="3566160" cy="365760"/>
          </a:xfrm>
          <a:prstGeom prst="rect">
            <a:avLst/>
          </a:prstGeom>
          <a:noFill/>
          <a:ln/>
        </p:spPr>
        <p:txBody>
          <a:bodyPr wrap="square" lIns="0" tIns="0" rIns="0" bIns="0" rtlCol="0" anchor="t"/>
          <a:lstStyle/>
          <a:p>
            <a:pPr marL="0" indent="0">
              <a:buNone/>
            </a:pPr>
            <a:r>
              <a:rPr lang="en-US" sz="2000" b="1" dirty="0">
                <a:solidFill>
                  <a:srgbClr val="D9482B"/>
                </a:solidFill>
              </a:rPr>
              <a:t>Limitations</a:t>
            </a:r>
            <a:endParaRPr lang="en-US" sz="2000" dirty="0"/>
          </a:p>
        </p:txBody>
      </p:sp>
      <p:sp>
        <p:nvSpPr>
          <p:cNvPr id="7" name="text_81"/>
          <p:cNvSpPr txBox="1"/>
          <p:nvPr/>
        </p:nvSpPr>
        <p:spPr>
          <a:xfrm>
            <a:off x="685800" y="2926080"/>
            <a:ext cx="3566160" cy="16459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Very slow for a whole university</a:t>
            </a:r>
            <a:endParaRPr lang="en-US" sz="1400" dirty="0"/>
          </a:p>
          <a:p>
            <a:pPr marL="342900" indent="-342900">
              <a:spcAft>
                <a:spcPts val="500"/>
              </a:spcAft>
              <a:buSzPct val="100000"/>
              <a:buChar char="•"/>
            </a:pPr>
            <a:r>
              <a:rPr lang="en-US" sz="1400" dirty="0">
                <a:solidFill>
                  <a:schemeClr val="tx1"/>
                </a:solidFill>
              </a:rPr>
              <a:t>Clashes found only after the timetable is made</a:t>
            </a:r>
            <a:endParaRPr lang="en-US" sz="1400" dirty="0"/>
          </a:p>
          <a:p>
            <a:pPr marL="342900" indent="-342900">
              <a:spcAft>
                <a:spcPts val="500"/>
              </a:spcAft>
              <a:buSzPct val="100000"/>
              <a:buChar char="•"/>
            </a:pPr>
            <a:r>
              <a:rPr lang="en-US" sz="1400" dirty="0">
                <a:solidFill>
                  <a:schemeClr val="tx1"/>
                </a:solidFill>
              </a:rPr>
              <a:t>No way to know if fewer slots were possible</a:t>
            </a:r>
            <a:endParaRPr lang="en-US" sz="1400" dirty="0"/>
          </a:p>
          <a:p>
            <a:pPr marL="342900" indent="-342900">
              <a:spcAft>
                <a:spcPts val="500"/>
              </a:spcAft>
              <a:buSzPct val="100000"/>
              <a:buChar char="•"/>
            </a:pPr>
            <a:r>
              <a:rPr lang="en-US" sz="1400" dirty="0">
                <a:solidFill>
                  <a:schemeClr val="tx1"/>
                </a:solidFill>
              </a:rPr>
              <a:t>Does not scale to hundreds of classes</a:t>
            </a:r>
            <a:endParaRPr lang="en-US" sz="1400" dirty="0"/>
          </a:p>
        </p:txBody>
      </p:sp>
      <p:sp>
        <p:nvSpPr>
          <p:cNvPr id="8" name="card_82"/>
          <p:cNvSpPr/>
          <p:nvPr/>
        </p:nvSpPr>
        <p:spPr>
          <a:xfrm>
            <a:off x="4663440" y="1188720"/>
            <a:ext cx="4023360" cy="3474720"/>
          </a:xfrm>
          <a:prstGeom prst="roundRect">
            <a:avLst>
              <a:gd name="adj" fmla="val 2632"/>
            </a:avLst>
          </a:prstGeom>
          <a:solidFill>
            <a:schemeClr val="bg2"/>
          </a:solidFill>
          <a:ln w="12700">
            <a:solidFill>
              <a:schemeClr val="bg2"/>
            </a:solidFill>
            <a:prstDash val="solid"/>
          </a:ln>
        </p:spPr>
      </p:sp>
      <p:sp>
        <p:nvSpPr>
          <p:cNvPr id="9" name="text_83"/>
          <p:cNvSpPr txBox="1"/>
          <p:nvPr/>
        </p:nvSpPr>
        <p:spPr>
          <a:xfrm>
            <a:off x="4892040" y="1371600"/>
            <a:ext cx="3566160" cy="365760"/>
          </a:xfrm>
          <a:prstGeom prst="rect">
            <a:avLst/>
          </a:prstGeom>
          <a:noFill/>
          <a:ln/>
        </p:spPr>
        <p:txBody>
          <a:bodyPr wrap="square" lIns="0" tIns="0" rIns="0" bIns="0" rtlCol="0" anchor="t"/>
          <a:lstStyle/>
          <a:p>
            <a:pPr marL="0" indent="0">
              <a:buNone/>
            </a:pPr>
            <a:r>
              <a:rPr lang="en-US" sz="2000" b="1" dirty="0">
                <a:solidFill>
                  <a:schemeClr val="tx2"/>
                </a:solidFill>
              </a:rPr>
              <a:t>Our idea: graph colouring</a:t>
            </a:r>
            <a:endParaRPr lang="en-US" sz="2000" dirty="0"/>
          </a:p>
        </p:txBody>
      </p:sp>
      <p:sp>
        <p:nvSpPr>
          <p:cNvPr id="10" name="edge_84"/>
          <p:cNvSpPr/>
          <p:nvPr/>
        </p:nvSpPr>
        <p:spPr>
          <a:xfrm flipV="1">
            <a:off x="5303520" y="2057400"/>
            <a:ext cx="1371600" cy="91440"/>
          </a:xfrm>
          <a:prstGeom prst="line">
            <a:avLst/>
          </a:prstGeom>
          <a:noFill/>
          <a:ln w="25400">
            <a:solidFill>
              <a:srgbClr val="9AA5B8"/>
            </a:solidFill>
            <a:prstDash val="solid"/>
          </a:ln>
        </p:spPr>
      </p:sp>
      <p:sp>
        <p:nvSpPr>
          <p:cNvPr id="11" name="edge_85"/>
          <p:cNvSpPr/>
          <p:nvPr/>
        </p:nvSpPr>
        <p:spPr>
          <a:xfrm>
            <a:off x="5303520" y="2148840"/>
            <a:ext cx="685800" cy="822960"/>
          </a:xfrm>
          <a:prstGeom prst="line">
            <a:avLst/>
          </a:prstGeom>
          <a:noFill/>
          <a:ln w="25400">
            <a:solidFill>
              <a:srgbClr val="9AA5B8"/>
            </a:solidFill>
            <a:prstDash val="solid"/>
          </a:ln>
        </p:spPr>
      </p:sp>
      <p:sp>
        <p:nvSpPr>
          <p:cNvPr id="12" name="edge_86"/>
          <p:cNvSpPr/>
          <p:nvPr/>
        </p:nvSpPr>
        <p:spPr>
          <a:xfrm flipV="1">
            <a:off x="5989320" y="2057400"/>
            <a:ext cx="685800" cy="914400"/>
          </a:xfrm>
          <a:prstGeom prst="line">
            <a:avLst/>
          </a:prstGeom>
          <a:noFill/>
          <a:ln w="25400">
            <a:solidFill>
              <a:srgbClr val="9AA5B8"/>
            </a:solidFill>
            <a:prstDash val="solid"/>
          </a:ln>
        </p:spPr>
      </p:sp>
      <p:sp>
        <p:nvSpPr>
          <p:cNvPr id="13" name="edge_87"/>
          <p:cNvSpPr/>
          <p:nvPr/>
        </p:nvSpPr>
        <p:spPr>
          <a:xfrm>
            <a:off x="6675120" y="2057400"/>
            <a:ext cx="1051560" cy="822960"/>
          </a:xfrm>
          <a:prstGeom prst="line">
            <a:avLst/>
          </a:prstGeom>
          <a:noFill/>
          <a:ln w="25400">
            <a:solidFill>
              <a:srgbClr val="9AA5B8"/>
            </a:solidFill>
            <a:prstDash val="solid"/>
          </a:ln>
        </p:spPr>
      </p:sp>
      <p:sp>
        <p:nvSpPr>
          <p:cNvPr id="14" name="edge_88"/>
          <p:cNvSpPr/>
          <p:nvPr/>
        </p:nvSpPr>
        <p:spPr>
          <a:xfrm flipV="1">
            <a:off x="5989320" y="2880360"/>
            <a:ext cx="1737360" cy="91440"/>
          </a:xfrm>
          <a:prstGeom prst="line">
            <a:avLst/>
          </a:prstGeom>
          <a:noFill/>
          <a:ln w="25400">
            <a:solidFill>
              <a:srgbClr val="9AA5B8"/>
            </a:solidFill>
            <a:prstDash val="solid"/>
          </a:ln>
        </p:spPr>
      </p:sp>
      <p:sp>
        <p:nvSpPr>
          <p:cNvPr id="15" name="edge_89"/>
          <p:cNvSpPr/>
          <p:nvPr/>
        </p:nvSpPr>
        <p:spPr>
          <a:xfrm>
            <a:off x="5989320" y="2971800"/>
            <a:ext cx="1097280" cy="640080"/>
          </a:xfrm>
          <a:prstGeom prst="line">
            <a:avLst/>
          </a:prstGeom>
          <a:noFill/>
          <a:ln w="25400">
            <a:solidFill>
              <a:srgbClr val="9AA5B8"/>
            </a:solidFill>
            <a:prstDash val="solid"/>
          </a:ln>
        </p:spPr>
      </p:sp>
      <p:sp>
        <p:nvSpPr>
          <p:cNvPr id="16" name="edge_90"/>
          <p:cNvSpPr/>
          <p:nvPr/>
        </p:nvSpPr>
        <p:spPr>
          <a:xfrm flipV="1">
            <a:off x="7086600" y="2880360"/>
            <a:ext cx="640080" cy="731520"/>
          </a:xfrm>
          <a:prstGeom prst="line">
            <a:avLst/>
          </a:prstGeom>
          <a:noFill/>
          <a:ln w="25400">
            <a:solidFill>
              <a:srgbClr val="9AA5B8"/>
            </a:solidFill>
            <a:prstDash val="solid"/>
          </a:ln>
        </p:spPr>
      </p:sp>
      <p:sp>
        <p:nvSpPr>
          <p:cNvPr id="17" name="node_91"/>
          <p:cNvSpPr/>
          <p:nvPr/>
        </p:nvSpPr>
        <p:spPr>
          <a:xfrm>
            <a:off x="5074920" y="1920240"/>
            <a:ext cx="457200" cy="457200"/>
          </a:xfrm>
          <a:prstGeom prst="ellipse">
            <a:avLst/>
          </a:prstGeom>
          <a:solidFill>
            <a:srgbClr val="0B7F8B"/>
          </a:solidFill>
          <a:ln w="19050">
            <a:solidFill>
              <a:srgbClr val="FFFFFF"/>
            </a:solidFill>
            <a:prstDash val="solid"/>
          </a:ln>
        </p:spPr>
      </p:sp>
      <p:sp>
        <p:nvSpPr>
          <p:cNvPr id="18" name="nodelabel_92"/>
          <p:cNvSpPr txBox="1"/>
          <p:nvPr/>
        </p:nvSpPr>
        <p:spPr>
          <a:xfrm>
            <a:off x="5074920" y="19202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rPr>
              <a:t>C1</a:t>
            </a:r>
            <a:endParaRPr lang="en-US" sz="1200" dirty="0"/>
          </a:p>
        </p:txBody>
      </p:sp>
      <p:sp>
        <p:nvSpPr>
          <p:cNvPr id="19" name="node_93"/>
          <p:cNvSpPr/>
          <p:nvPr/>
        </p:nvSpPr>
        <p:spPr>
          <a:xfrm>
            <a:off x="6446520" y="1828800"/>
            <a:ext cx="457200" cy="457200"/>
          </a:xfrm>
          <a:prstGeom prst="ellipse">
            <a:avLst/>
          </a:prstGeom>
          <a:solidFill>
            <a:srgbClr val="6B5CE7"/>
          </a:solidFill>
          <a:ln w="19050">
            <a:solidFill>
              <a:srgbClr val="FFFFFF"/>
            </a:solidFill>
            <a:prstDash val="solid"/>
          </a:ln>
        </p:spPr>
      </p:sp>
      <p:sp>
        <p:nvSpPr>
          <p:cNvPr id="20" name="nodelabel_94"/>
          <p:cNvSpPr txBox="1"/>
          <p:nvPr/>
        </p:nvSpPr>
        <p:spPr>
          <a:xfrm>
            <a:off x="6446520" y="18288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rPr>
              <a:t>C2</a:t>
            </a:r>
            <a:endParaRPr lang="en-US" sz="1200" dirty="0"/>
          </a:p>
        </p:txBody>
      </p:sp>
      <p:sp>
        <p:nvSpPr>
          <p:cNvPr id="21" name="node_95"/>
          <p:cNvSpPr/>
          <p:nvPr/>
        </p:nvSpPr>
        <p:spPr>
          <a:xfrm>
            <a:off x="5760720" y="2743200"/>
            <a:ext cx="457200" cy="457200"/>
          </a:xfrm>
          <a:prstGeom prst="ellipse">
            <a:avLst/>
          </a:prstGeom>
          <a:solidFill>
            <a:srgbClr val="D9482B"/>
          </a:solidFill>
          <a:ln w="19050">
            <a:solidFill>
              <a:srgbClr val="FFFFFF"/>
            </a:solidFill>
            <a:prstDash val="solid"/>
          </a:ln>
        </p:spPr>
      </p:sp>
      <p:sp>
        <p:nvSpPr>
          <p:cNvPr id="22" name="nodelabel_96"/>
          <p:cNvSpPr txBox="1"/>
          <p:nvPr/>
        </p:nvSpPr>
        <p:spPr>
          <a:xfrm>
            <a:off x="5760720" y="27432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rPr>
              <a:t>C3</a:t>
            </a:r>
            <a:endParaRPr lang="en-US" sz="1200" dirty="0"/>
          </a:p>
        </p:txBody>
      </p:sp>
      <p:sp>
        <p:nvSpPr>
          <p:cNvPr id="23" name="node_97"/>
          <p:cNvSpPr/>
          <p:nvPr/>
        </p:nvSpPr>
        <p:spPr>
          <a:xfrm>
            <a:off x="7498080" y="2651760"/>
            <a:ext cx="457200" cy="457200"/>
          </a:xfrm>
          <a:prstGeom prst="ellipse">
            <a:avLst/>
          </a:prstGeom>
          <a:solidFill>
            <a:srgbClr val="0B7F8B"/>
          </a:solidFill>
          <a:ln w="19050">
            <a:solidFill>
              <a:srgbClr val="FFFFFF"/>
            </a:solidFill>
            <a:prstDash val="solid"/>
          </a:ln>
        </p:spPr>
      </p:sp>
      <p:sp>
        <p:nvSpPr>
          <p:cNvPr id="24" name="nodelabel_98"/>
          <p:cNvSpPr txBox="1"/>
          <p:nvPr/>
        </p:nvSpPr>
        <p:spPr>
          <a:xfrm>
            <a:off x="7498080" y="265176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rPr>
              <a:t>C4</a:t>
            </a:r>
            <a:endParaRPr lang="en-US" sz="1200" dirty="0"/>
          </a:p>
        </p:txBody>
      </p:sp>
      <p:sp>
        <p:nvSpPr>
          <p:cNvPr id="25" name="node_99"/>
          <p:cNvSpPr/>
          <p:nvPr/>
        </p:nvSpPr>
        <p:spPr>
          <a:xfrm>
            <a:off x="6858000" y="3383280"/>
            <a:ext cx="457200" cy="457200"/>
          </a:xfrm>
          <a:prstGeom prst="ellipse">
            <a:avLst/>
          </a:prstGeom>
          <a:solidFill>
            <a:srgbClr val="6B5CE7"/>
          </a:solidFill>
          <a:ln w="19050">
            <a:solidFill>
              <a:srgbClr val="FFFFFF"/>
            </a:solidFill>
            <a:prstDash val="solid"/>
          </a:ln>
        </p:spPr>
      </p:sp>
      <p:sp>
        <p:nvSpPr>
          <p:cNvPr id="26" name="nodelabel_100"/>
          <p:cNvSpPr txBox="1"/>
          <p:nvPr/>
        </p:nvSpPr>
        <p:spPr>
          <a:xfrm>
            <a:off x="6858000" y="338328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rPr>
              <a:t>C5</a:t>
            </a:r>
            <a:endParaRPr lang="en-US" sz="1200" dirty="0"/>
          </a:p>
        </p:txBody>
      </p:sp>
      <p:sp>
        <p:nvSpPr>
          <p:cNvPr id="27" name="text_101"/>
          <p:cNvSpPr txBox="1"/>
          <p:nvPr/>
        </p:nvSpPr>
        <p:spPr>
          <a:xfrm>
            <a:off x="4892040" y="3977640"/>
            <a:ext cx="3657600" cy="685800"/>
          </a:xfrm>
          <a:prstGeom prst="rect">
            <a:avLst/>
          </a:prstGeom>
          <a:noFill/>
          <a:ln/>
        </p:spPr>
        <p:txBody>
          <a:bodyPr wrap="square" lIns="0" tIns="0" rIns="0" bIns="0" rtlCol="0" anchor="t"/>
          <a:lstStyle/>
          <a:p>
            <a:pPr marL="0" indent="0">
              <a:spcAft>
                <a:spcPts val="200"/>
              </a:spcAft>
              <a:buNone/>
            </a:pPr>
            <a:r>
              <a:rPr lang="en-US" sz="1300" dirty="0">
                <a:solidFill>
                  <a:schemeClr val="tx1"/>
                </a:solidFill>
              </a:rPr>
              <a:t>Dot = one class</a:t>
            </a:r>
            <a:endParaRPr lang="en-US" sz="1300" dirty="0"/>
          </a:p>
          <a:p>
            <a:pPr marL="0" indent="0">
              <a:spcAft>
                <a:spcPts val="200"/>
              </a:spcAft>
              <a:buNone/>
            </a:pPr>
            <a:r>
              <a:rPr lang="en-US" sz="1300" dirty="0">
                <a:solidFill>
                  <a:schemeClr val="tx1"/>
                </a:solidFill>
              </a:rPr>
              <a:t>Line = clash (same teacher or group)</a:t>
            </a:r>
            <a:endParaRPr lang="en-US" sz="1300" dirty="0"/>
          </a:p>
          <a:p>
            <a:pPr marL="0" indent="0">
              <a:spcAft>
                <a:spcPts val="200"/>
              </a:spcAft>
              <a:buNone/>
            </a:pPr>
            <a:r>
              <a:rPr lang="en-US" sz="1300" dirty="0">
                <a:solidFill>
                  <a:schemeClr val="tx1"/>
                </a:solidFill>
              </a:rPr>
              <a:t>Colour = time slot (joined dots never share one)</a:t>
            </a:r>
            <a:endParaRPr lang="en-US" sz="1300" dirty="0"/>
          </a:p>
        </p:txBody>
      </p:sp>
      <p:sp>
        <p:nvSpPr>
          <p:cNvPr id="28"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Proposed Approach</a:t>
            </a:r>
            <a:endParaRPr lang="en-US" sz="3600" dirty="0"/>
          </a:p>
        </p:txBody>
      </p:sp>
      <p:sp>
        <p:nvSpPr>
          <p:cNvPr id="3" name="card_102"/>
          <p:cNvSpPr/>
          <p:nvPr/>
        </p:nvSpPr>
        <p:spPr>
          <a:xfrm>
            <a:off x="457200" y="1234440"/>
            <a:ext cx="1828800" cy="1600200"/>
          </a:xfrm>
          <a:prstGeom prst="roundRect">
            <a:avLst>
              <a:gd name="adj" fmla="val 5714"/>
            </a:avLst>
          </a:prstGeom>
          <a:solidFill>
            <a:schemeClr val="bg2"/>
          </a:solidFill>
          <a:ln w="12700">
            <a:solidFill>
              <a:schemeClr val="bg2"/>
            </a:solidFill>
            <a:prstDash val="solid"/>
          </a:ln>
        </p:spPr>
      </p:sp>
      <p:sp>
        <p:nvSpPr>
          <p:cNvPr id="4" name="num_103"/>
          <p:cNvSpPr/>
          <p:nvPr/>
        </p:nvSpPr>
        <p:spPr>
          <a:xfrm>
            <a:off x="594360" y="1371600"/>
            <a:ext cx="411480" cy="411480"/>
          </a:xfrm>
          <a:prstGeom prst="ellipse">
            <a:avLst/>
          </a:prstGeom>
          <a:solidFill>
            <a:srgbClr val="0B7F8B"/>
          </a:solidFill>
          <a:ln w="12700">
            <a:solidFill>
              <a:srgbClr val="0B7F8B"/>
            </a:solidFill>
            <a:prstDash val="solid"/>
          </a:ln>
        </p:spPr>
      </p:sp>
      <p:sp>
        <p:nvSpPr>
          <p:cNvPr id="5" name="numtxt_104"/>
          <p:cNvSpPr txBox="1"/>
          <p:nvPr/>
        </p:nvSpPr>
        <p:spPr>
          <a:xfrm>
            <a:off x="594360" y="137160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_105"/>
          <p:cNvSpPr txBox="1"/>
          <p:nvPr/>
        </p:nvSpPr>
        <p:spPr>
          <a:xfrm>
            <a:off x="594360" y="1856232"/>
            <a:ext cx="1554480" cy="457200"/>
          </a:xfrm>
          <a:prstGeom prst="rect">
            <a:avLst/>
          </a:prstGeom>
          <a:noFill/>
          <a:ln/>
        </p:spPr>
        <p:txBody>
          <a:bodyPr wrap="square" lIns="0" tIns="0" rIns="0" bIns="0" rtlCol="0" anchor="t"/>
          <a:lstStyle/>
          <a:p>
            <a:pPr marL="0" indent="0">
              <a:buNone/>
            </a:pPr>
            <a:r>
              <a:rPr lang="en-US" sz="1500" b="1" dirty="0">
                <a:solidFill>
                  <a:schemeClr val="tx2"/>
                </a:solidFill>
              </a:rPr>
              <a:t>Problem definition</a:t>
            </a:r>
            <a:endParaRPr lang="en-US" sz="1500" dirty="0"/>
          </a:p>
        </p:txBody>
      </p:sp>
      <p:sp>
        <p:nvSpPr>
          <p:cNvPr id="7" name="text_106"/>
          <p:cNvSpPr txBox="1"/>
          <p:nvPr/>
        </p:nvSpPr>
        <p:spPr>
          <a:xfrm>
            <a:off x="594360" y="2395728"/>
            <a:ext cx="1554480" cy="411480"/>
          </a:xfrm>
          <a:prstGeom prst="rect">
            <a:avLst/>
          </a:prstGeom>
          <a:noFill/>
          <a:ln/>
        </p:spPr>
        <p:txBody>
          <a:bodyPr wrap="square" lIns="0" tIns="0" rIns="0" bIns="0" rtlCol="0" anchor="t"/>
          <a:lstStyle/>
          <a:p>
            <a:pPr marL="0" indent="0">
              <a:buNone/>
            </a:pPr>
            <a:r>
              <a:rPr lang="en-US" sz="1300" dirty="0">
                <a:solidFill>
                  <a:schemeClr val="tx1"/>
                </a:solidFill>
              </a:rPr>
              <a:t>Inputs, outputs, constraints</a:t>
            </a:r>
            <a:endParaRPr lang="en-US" sz="1300" dirty="0"/>
          </a:p>
        </p:txBody>
      </p:sp>
      <p:sp>
        <p:nvSpPr>
          <p:cNvPr id="8" name="arrow_107"/>
          <p:cNvSpPr/>
          <p:nvPr/>
        </p:nvSpPr>
        <p:spPr>
          <a:xfrm>
            <a:off x="2295144" y="1892808"/>
            <a:ext cx="256032" cy="237744"/>
          </a:xfrm>
          <a:prstGeom prst="rightArrow">
            <a:avLst/>
          </a:prstGeom>
          <a:solidFill>
            <a:srgbClr val="6B7689"/>
          </a:solidFill>
          <a:ln w="12700">
            <a:solidFill>
              <a:srgbClr val="6B7689"/>
            </a:solidFill>
            <a:prstDash val="solid"/>
          </a:ln>
        </p:spPr>
      </p:sp>
      <p:sp>
        <p:nvSpPr>
          <p:cNvPr id="9" name="card_108"/>
          <p:cNvSpPr/>
          <p:nvPr/>
        </p:nvSpPr>
        <p:spPr>
          <a:xfrm>
            <a:off x="2587752" y="1234440"/>
            <a:ext cx="1828800" cy="1600200"/>
          </a:xfrm>
          <a:prstGeom prst="roundRect">
            <a:avLst>
              <a:gd name="adj" fmla="val 5714"/>
            </a:avLst>
          </a:prstGeom>
          <a:solidFill>
            <a:schemeClr val="bg2"/>
          </a:solidFill>
          <a:ln w="12700">
            <a:solidFill>
              <a:schemeClr val="bg2"/>
            </a:solidFill>
            <a:prstDash val="solid"/>
          </a:ln>
        </p:spPr>
      </p:sp>
      <p:sp>
        <p:nvSpPr>
          <p:cNvPr id="10" name="num_109"/>
          <p:cNvSpPr/>
          <p:nvPr/>
        </p:nvSpPr>
        <p:spPr>
          <a:xfrm>
            <a:off x="2724912" y="1371600"/>
            <a:ext cx="411480" cy="411480"/>
          </a:xfrm>
          <a:prstGeom prst="ellipse">
            <a:avLst/>
          </a:prstGeom>
          <a:solidFill>
            <a:srgbClr val="6B5CE7"/>
          </a:solidFill>
          <a:ln w="12700">
            <a:solidFill>
              <a:srgbClr val="6B5CE7"/>
            </a:solidFill>
            <a:prstDash val="solid"/>
          </a:ln>
        </p:spPr>
      </p:sp>
      <p:sp>
        <p:nvSpPr>
          <p:cNvPr id="11" name="numtxt_110"/>
          <p:cNvSpPr txBox="1"/>
          <p:nvPr/>
        </p:nvSpPr>
        <p:spPr>
          <a:xfrm>
            <a:off x="2724912" y="137160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text_111"/>
          <p:cNvSpPr txBox="1"/>
          <p:nvPr/>
        </p:nvSpPr>
        <p:spPr>
          <a:xfrm>
            <a:off x="2724912" y="1856232"/>
            <a:ext cx="1554480" cy="457200"/>
          </a:xfrm>
          <a:prstGeom prst="rect">
            <a:avLst/>
          </a:prstGeom>
          <a:noFill/>
          <a:ln/>
        </p:spPr>
        <p:txBody>
          <a:bodyPr wrap="square" lIns="0" tIns="0" rIns="0" bIns="0" rtlCol="0" anchor="t"/>
          <a:lstStyle/>
          <a:p>
            <a:pPr marL="0" indent="0">
              <a:buNone/>
            </a:pPr>
            <a:r>
              <a:rPr lang="en-US" sz="1500" b="1" dirty="0">
                <a:solidFill>
                  <a:schemeClr val="tx2"/>
                </a:solidFill>
              </a:rPr>
              <a:t>Input / data</a:t>
            </a:r>
            <a:endParaRPr lang="en-US" sz="1500" dirty="0"/>
          </a:p>
        </p:txBody>
      </p:sp>
      <p:sp>
        <p:nvSpPr>
          <p:cNvPr id="13" name="text_112"/>
          <p:cNvSpPr txBox="1"/>
          <p:nvPr/>
        </p:nvSpPr>
        <p:spPr>
          <a:xfrm>
            <a:off x="2724912" y="2395728"/>
            <a:ext cx="1554480" cy="411480"/>
          </a:xfrm>
          <a:prstGeom prst="rect">
            <a:avLst/>
          </a:prstGeom>
          <a:noFill/>
          <a:ln/>
        </p:spPr>
        <p:txBody>
          <a:bodyPr wrap="square" lIns="0" tIns="0" rIns="0" bIns="0" rtlCol="0" anchor="t"/>
          <a:lstStyle/>
          <a:p>
            <a:pPr marL="0" indent="0">
              <a:buNone/>
            </a:pPr>
            <a:r>
              <a:rPr lang="en-US" sz="1300" dirty="0">
                <a:solidFill>
                  <a:schemeClr val="tx1"/>
                </a:solidFill>
              </a:rPr>
              <a:t>Random generator or GUI input</a:t>
            </a:r>
            <a:endParaRPr lang="en-US" sz="1300" dirty="0"/>
          </a:p>
        </p:txBody>
      </p:sp>
      <p:sp>
        <p:nvSpPr>
          <p:cNvPr id="14" name="arrow_113"/>
          <p:cNvSpPr/>
          <p:nvPr/>
        </p:nvSpPr>
        <p:spPr>
          <a:xfrm>
            <a:off x="4425696" y="1892808"/>
            <a:ext cx="256032" cy="237744"/>
          </a:xfrm>
          <a:prstGeom prst="rightArrow">
            <a:avLst/>
          </a:prstGeom>
          <a:solidFill>
            <a:srgbClr val="6B7689"/>
          </a:solidFill>
          <a:ln w="12700">
            <a:solidFill>
              <a:srgbClr val="6B7689"/>
            </a:solidFill>
            <a:prstDash val="solid"/>
          </a:ln>
        </p:spPr>
      </p:sp>
      <p:sp>
        <p:nvSpPr>
          <p:cNvPr id="15" name="card_114"/>
          <p:cNvSpPr/>
          <p:nvPr/>
        </p:nvSpPr>
        <p:spPr>
          <a:xfrm>
            <a:off x="4718304" y="1234440"/>
            <a:ext cx="1828800" cy="1600200"/>
          </a:xfrm>
          <a:prstGeom prst="roundRect">
            <a:avLst>
              <a:gd name="adj" fmla="val 5714"/>
            </a:avLst>
          </a:prstGeom>
          <a:solidFill>
            <a:schemeClr val="bg2"/>
          </a:solidFill>
          <a:ln w="12700">
            <a:solidFill>
              <a:schemeClr val="bg2"/>
            </a:solidFill>
            <a:prstDash val="solid"/>
          </a:ln>
        </p:spPr>
      </p:sp>
      <p:sp>
        <p:nvSpPr>
          <p:cNvPr id="16" name="num_115"/>
          <p:cNvSpPr/>
          <p:nvPr/>
        </p:nvSpPr>
        <p:spPr>
          <a:xfrm>
            <a:off x="4855464" y="1371600"/>
            <a:ext cx="411480" cy="411480"/>
          </a:xfrm>
          <a:prstGeom prst="ellipse">
            <a:avLst/>
          </a:prstGeom>
          <a:solidFill>
            <a:srgbClr val="D9482B"/>
          </a:solidFill>
          <a:ln w="12700">
            <a:solidFill>
              <a:srgbClr val="D9482B"/>
            </a:solidFill>
            <a:prstDash val="solid"/>
          </a:ln>
        </p:spPr>
      </p:sp>
      <p:sp>
        <p:nvSpPr>
          <p:cNvPr id="17" name="numtxt_116"/>
          <p:cNvSpPr txBox="1"/>
          <p:nvPr/>
        </p:nvSpPr>
        <p:spPr>
          <a:xfrm>
            <a:off x="4855464" y="137160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_117"/>
          <p:cNvSpPr txBox="1"/>
          <p:nvPr/>
        </p:nvSpPr>
        <p:spPr>
          <a:xfrm>
            <a:off x="4855464" y="1856232"/>
            <a:ext cx="1554480" cy="457200"/>
          </a:xfrm>
          <a:prstGeom prst="rect">
            <a:avLst/>
          </a:prstGeom>
          <a:noFill/>
          <a:ln/>
        </p:spPr>
        <p:txBody>
          <a:bodyPr wrap="square" lIns="0" tIns="0" rIns="0" bIns="0" rtlCol="0" anchor="t"/>
          <a:lstStyle/>
          <a:p>
            <a:pPr marL="0" indent="0">
              <a:buNone/>
            </a:pPr>
            <a:r>
              <a:rPr lang="en-US" sz="1500" b="1" dirty="0">
                <a:solidFill>
                  <a:schemeClr val="tx2"/>
                </a:solidFill>
              </a:rPr>
              <a:t>Algorithm selection</a:t>
            </a:r>
            <a:endParaRPr lang="en-US" sz="1500" dirty="0"/>
          </a:p>
        </p:txBody>
      </p:sp>
      <p:sp>
        <p:nvSpPr>
          <p:cNvPr id="19" name="text_118"/>
          <p:cNvSpPr txBox="1"/>
          <p:nvPr/>
        </p:nvSpPr>
        <p:spPr>
          <a:xfrm>
            <a:off x="4855464" y="2395728"/>
            <a:ext cx="1554480" cy="411480"/>
          </a:xfrm>
          <a:prstGeom prst="rect">
            <a:avLst/>
          </a:prstGeom>
          <a:noFill/>
          <a:ln/>
        </p:spPr>
        <p:txBody>
          <a:bodyPr wrap="square" lIns="0" tIns="0" rIns="0" bIns="0" rtlCol="0" anchor="t"/>
          <a:lstStyle/>
          <a:p>
            <a:pPr marL="0" indent="0">
              <a:buNone/>
            </a:pPr>
            <a:r>
              <a:rPr lang="en-US" sz="1300" dirty="0">
                <a:solidFill>
                  <a:schemeClr val="tx1"/>
                </a:solidFill>
              </a:rPr>
              <a:t>Colouring, greedy, backtracking</a:t>
            </a:r>
            <a:endParaRPr lang="en-US" sz="1300" dirty="0"/>
          </a:p>
        </p:txBody>
      </p:sp>
      <p:sp>
        <p:nvSpPr>
          <p:cNvPr id="20" name="arrow_119"/>
          <p:cNvSpPr/>
          <p:nvPr/>
        </p:nvSpPr>
        <p:spPr>
          <a:xfrm>
            <a:off x="6556248" y="1892808"/>
            <a:ext cx="256032" cy="237744"/>
          </a:xfrm>
          <a:prstGeom prst="rightArrow">
            <a:avLst/>
          </a:prstGeom>
          <a:solidFill>
            <a:srgbClr val="6B7689"/>
          </a:solidFill>
          <a:ln w="12700">
            <a:solidFill>
              <a:srgbClr val="6B7689"/>
            </a:solidFill>
            <a:prstDash val="solid"/>
          </a:ln>
        </p:spPr>
      </p:sp>
      <p:sp>
        <p:nvSpPr>
          <p:cNvPr id="21" name="card_120"/>
          <p:cNvSpPr/>
          <p:nvPr/>
        </p:nvSpPr>
        <p:spPr>
          <a:xfrm>
            <a:off x="6848856" y="1234440"/>
            <a:ext cx="1828800" cy="1600200"/>
          </a:xfrm>
          <a:prstGeom prst="roundRect">
            <a:avLst>
              <a:gd name="adj" fmla="val 5714"/>
            </a:avLst>
          </a:prstGeom>
          <a:solidFill>
            <a:schemeClr val="bg2"/>
          </a:solidFill>
          <a:ln w="12700">
            <a:solidFill>
              <a:schemeClr val="bg2"/>
            </a:solidFill>
            <a:prstDash val="solid"/>
          </a:ln>
        </p:spPr>
      </p:sp>
      <p:sp>
        <p:nvSpPr>
          <p:cNvPr id="22" name="num_121"/>
          <p:cNvSpPr/>
          <p:nvPr/>
        </p:nvSpPr>
        <p:spPr>
          <a:xfrm>
            <a:off x="6986016" y="1371600"/>
            <a:ext cx="411480" cy="411480"/>
          </a:xfrm>
          <a:prstGeom prst="ellipse">
            <a:avLst/>
          </a:prstGeom>
          <a:solidFill>
            <a:srgbClr val="3E8E41"/>
          </a:solidFill>
          <a:ln w="12700">
            <a:solidFill>
              <a:srgbClr val="3E8E41"/>
            </a:solidFill>
            <a:prstDash val="solid"/>
          </a:ln>
        </p:spPr>
      </p:sp>
      <p:sp>
        <p:nvSpPr>
          <p:cNvPr id="23" name="numtxt_122"/>
          <p:cNvSpPr txBox="1"/>
          <p:nvPr/>
        </p:nvSpPr>
        <p:spPr>
          <a:xfrm>
            <a:off x="6986016" y="137160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4" name="text_123"/>
          <p:cNvSpPr txBox="1"/>
          <p:nvPr/>
        </p:nvSpPr>
        <p:spPr>
          <a:xfrm>
            <a:off x="6986016" y="1856232"/>
            <a:ext cx="1554480" cy="457200"/>
          </a:xfrm>
          <a:prstGeom prst="rect">
            <a:avLst/>
          </a:prstGeom>
          <a:noFill/>
          <a:ln/>
        </p:spPr>
        <p:txBody>
          <a:bodyPr wrap="square" lIns="0" tIns="0" rIns="0" bIns="0" rtlCol="0" anchor="t"/>
          <a:lstStyle/>
          <a:p>
            <a:pPr marL="0" indent="0">
              <a:buNone/>
            </a:pPr>
            <a:r>
              <a:rPr lang="en-US" sz="1500" b="1" dirty="0">
                <a:solidFill>
                  <a:schemeClr val="tx2"/>
                </a:solidFill>
              </a:rPr>
              <a:t>Design / pseudocode</a:t>
            </a:r>
            <a:endParaRPr lang="en-US" sz="1500" dirty="0"/>
          </a:p>
        </p:txBody>
      </p:sp>
      <p:sp>
        <p:nvSpPr>
          <p:cNvPr id="25" name="text_124"/>
          <p:cNvSpPr txBox="1"/>
          <p:nvPr/>
        </p:nvSpPr>
        <p:spPr>
          <a:xfrm>
            <a:off x="6986016" y="2395728"/>
            <a:ext cx="1554480" cy="411480"/>
          </a:xfrm>
          <a:prstGeom prst="rect">
            <a:avLst/>
          </a:prstGeom>
          <a:noFill/>
          <a:ln/>
        </p:spPr>
        <p:txBody>
          <a:bodyPr wrap="square" lIns="0" tIns="0" rIns="0" bIns="0" rtlCol="0" anchor="t"/>
          <a:lstStyle/>
          <a:p>
            <a:pPr marL="0" indent="0">
              <a:buNone/>
            </a:pPr>
            <a:r>
              <a:rPr lang="en-US" sz="1300" dirty="0">
                <a:solidFill>
                  <a:schemeClr val="tx1"/>
                </a:solidFill>
              </a:rPr>
              <a:t>Steps and complexity</a:t>
            </a:r>
            <a:endParaRPr lang="en-US" sz="1300" dirty="0"/>
          </a:p>
        </p:txBody>
      </p:sp>
      <p:sp>
        <p:nvSpPr>
          <p:cNvPr id="26" name="card_125"/>
          <p:cNvSpPr/>
          <p:nvPr/>
        </p:nvSpPr>
        <p:spPr>
          <a:xfrm>
            <a:off x="457200" y="3017520"/>
            <a:ext cx="1828800" cy="1600200"/>
          </a:xfrm>
          <a:prstGeom prst="roundRect">
            <a:avLst>
              <a:gd name="adj" fmla="val 5714"/>
            </a:avLst>
          </a:prstGeom>
          <a:solidFill>
            <a:schemeClr val="bg2"/>
          </a:solidFill>
          <a:ln w="12700">
            <a:solidFill>
              <a:schemeClr val="bg2"/>
            </a:solidFill>
            <a:prstDash val="solid"/>
          </a:ln>
        </p:spPr>
      </p:sp>
      <p:sp>
        <p:nvSpPr>
          <p:cNvPr id="27" name="num_126"/>
          <p:cNvSpPr/>
          <p:nvPr/>
        </p:nvSpPr>
        <p:spPr>
          <a:xfrm>
            <a:off x="594360" y="3154680"/>
            <a:ext cx="411480" cy="411480"/>
          </a:xfrm>
          <a:prstGeom prst="ellipse">
            <a:avLst/>
          </a:prstGeom>
          <a:solidFill>
            <a:srgbClr val="0B7F8B"/>
          </a:solidFill>
          <a:ln w="12700">
            <a:solidFill>
              <a:srgbClr val="0B7F8B"/>
            </a:solidFill>
            <a:prstDash val="solid"/>
          </a:ln>
        </p:spPr>
      </p:sp>
      <p:sp>
        <p:nvSpPr>
          <p:cNvPr id="28" name="numtxt_127"/>
          <p:cNvSpPr txBox="1"/>
          <p:nvPr/>
        </p:nvSpPr>
        <p:spPr>
          <a:xfrm>
            <a:off x="594360" y="315468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9" name="text_128"/>
          <p:cNvSpPr txBox="1"/>
          <p:nvPr/>
        </p:nvSpPr>
        <p:spPr>
          <a:xfrm>
            <a:off x="594360" y="3639312"/>
            <a:ext cx="1554480" cy="457200"/>
          </a:xfrm>
          <a:prstGeom prst="rect">
            <a:avLst/>
          </a:prstGeom>
          <a:noFill/>
          <a:ln/>
        </p:spPr>
        <p:txBody>
          <a:bodyPr wrap="square" lIns="0" tIns="0" rIns="0" bIns="0" rtlCol="0" anchor="t"/>
          <a:lstStyle/>
          <a:p>
            <a:pPr marL="0" indent="0">
              <a:buNone/>
            </a:pPr>
            <a:r>
              <a:rPr lang="en-US" sz="1500" b="1" dirty="0">
                <a:solidFill>
                  <a:schemeClr val="tx2"/>
                </a:solidFill>
              </a:rPr>
              <a:t>Implementation</a:t>
            </a:r>
            <a:endParaRPr lang="en-US" sz="1500" dirty="0"/>
          </a:p>
        </p:txBody>
      </p:sp>
      <p:sp>
        <p:nvSpPr>
          <p:cNvPr id="30" name="text_129"/>
          <p:cNvSpPr txBox="1"/>
          <p:nvPr/>
        </p:nvSpPr>
        <p:spPr>
          <a:xfrm>
            <a:off x="594360" y="4178808"/>
            <a:ext cx="1554480" cy="411480"/>
          </a:xfrm>
          <a:prstGeom prst="rect">
            <a:avLst/>
          </a:prstGeom>
          <a:noFill/>
          <a:ln/>
        </p:spPr>
        <p:txBody>
          <a:bodyPr wrap="square" lIns="0" tIns="0" rIns="0" bIns="0" rtlCol="0" anchor="t"/>
          <a:lstStyle/>
          <a:p>
            <a:pPr marL="0" indent="0">
              <a:buNone/>
            </a:pPr>
            <a:r>
              <a:rPr lang="en-US" sz="1300" dirty="0">
                <a:solidFill>
                  <a:schemeClr val="tx1"/>
                </a:solidFill>
              </a:rPr>
              <a:t>Python + simple GUI</a:t>
            </a:r>
            <a:endParaRPr lang="en-US" sz="1300" dirty="0"/>
          </a:p>
        </p:txBody>
      </p:sp>
      <p:sp>
        <p:nvSpPr>
          <p:cNvPr id="31" name="arrow_130"/>
          <p:cNvSpPr/>
          <p:nvPr/>
        </p:nvSpPr>
        <p:spPr>
          <a:xfrm>
            <a:off x="2295144" y="3675888"/>
            <a:ext cx="256032" cy="237744"/>
          </a:xfrm>
          <a:prstGeom prst="rightArrow">
            <a:avLst/>
          </a:prstGeom>
          <a:solidFill>
            <a:srgbClr val="6B7689"/>
          </a:solidFill>
          <a:ln w="12700">
            <a:solidFill>
              <a:srgbClr val="6B7689"/>
            </a:solidFill>
            <a:prstDash val="solid"/>
          </a:ln>
        </p:spPr>
      </p:sp>
      <p:sp>
        <p:nvSpPr>
          <p:cNvPr id="32" name="card_131"/>
          <p:cNvSpPr/>
          <p:nvPr/>
        </p:nvSpPr>
        <p:spPr>
          <a:xfrm>
            <a:off x="2587752" y="3017520"/>
            <a:ext cx="1828800" cy="1600200"/>
          </a:xfrm>
          <a:prstGeom prst="roundRect">
            <a:avLst>
              <a:gd name="adj" fmla="val 5714"/>
            </a:avLst>
          </a:prstGeom>
          <a:solidFill>
            <a:schemeClr val="bg2"/>
          </a:solidFill>
          <a:ln w="12700">
            <a:solidFill>
              <a:schemeClr val="bg2"/>
            </a:solidFill>
            <a:prstDash val="solid"/>
          </a:ln>
        </p:spPr>
      </p:sp>
      <p:sp>
        <p:nvSpPr>
          <p:cNvPr id="33" name="num_132"/>
          <p:cNvSpPr/>
          <p:nvPr/>
        </p:nvSpPr>
        <p:spPr>
          <a:xfrm>
            <a:off x="2724912" y="3154680"/>
            <a:ext cx="411480" cy="411480"/>
          </a:xfrm>
          <a:prstGeom prst="ellipse">
            <a:avLst/>
          </a:prstGeom>
          <a:solidFill>
            <a:srgbClr val="6B5CE7"/>
          </a:solidFill>
          <a:ln w="12700">
            <a:solidFill>
              <a:srgbClr val="6B5CE7"/>
            </a:solidFill>
            <a:prstDash val="solid"/>
          </a:ln>
        </p:spPr>
      </p:sp>
      <p:sp>
        <p:nvSpPr>
          <p:cNvPr id="34" name="numtxt_133"/>
          <p:cNvSpPr txBox="1"/>
          <p:nvPr/>
        </p:nvSpPr>
        <p:spPr>
          <a:xfrm>
            <a:off x="2724912" y="315468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5" name="text_134"/>
          <p:cNvSpPr txBox="1"/>
          <p:nvPr/>
        </p:nvSpPr>
        <p:spPr>
          <a:xfrm>
            <a:off x="2724912" y="3639312"/>
            <a:ext cx="1554480" cy="457200"/>
          </a:xfrm>
          <a:prstGeom prst="rect">
            <a:avLst/>
          </a:prstGeom>
          <a:noFill/>
          <a:ln/>
        </p:spPr>
        <p:txBody>
          <a:bodyPr wrap="square" lIns="0" tIns="0" rIns="0" bIns="0" rtlCol="0" anchor="t"/>
          <a:lstStyle/>
          <a:p>
            <a:pPr marL="0" indent="0">
              <a:buNone/>
            </a:pPr>
            <a:r>
              <a:rPr lang="en-US" sz="1500" b="1" dirty="0">
                <a:solidFill>
                  <a:schemeClr val="tx2"/>
                </a:solidFill>
              </a:rPr>
              <a:t>Testing</a:t>
            </a:r>
            <a:endParaRPr lang="en-US" sz="1500" dirty="0"/>
          </a:p>
        </p:txBody>
      </p:sp>
      <p:sp>
        <p:nvSpPr>
          <p:cNvPr id="36" name="text_135"/>
          <p:cNvSpPr txBox="1"/>
          <p:nvPr/>
        </p:nvSpPr>
        <p:spPr>
          <a:xfrm>
            <a:off x="2724912" y="4178808"/>
            <a:ext cx="1554480" cy="411480"/>
          </a:xfrm>
          <a:prstGeom prst="rect">
            <a:avLst/>
          </a:prstGeom>
          <a:noFill/>
          <a:ln/>
        </p:spPr>
        <p:txBody>
          <a:bodyPr wrap="square" lIns="0" tIns="0" rIns="0" bIns="0" rtlCol="0" anchor="t"/>
          <a:lstStyle/>
          <a:p>
            <a:pPr marL="0" indent="0">
              <a:buNone/>
            </a:pPr>
            <a:r>
              <a:rPr lang="en-US" sz="1300" dirty="0">
                <a:solidFill>
                  <a:schemeClr val="tx1"/>
                </a:solidFill>
              </a:rPr>
              <a:t>10 to 100 classes</a:t>
            </a:r>
            <a:endParaRPr lang="en-US" sz="1300" dirty="0"/>
          </a:p>
        </p:txBody>
      </p:sp>
      <p:sp>
        <p:nvSpPr>
          <p:cNvPr id="37" name="arrow_136"/>
          <p:cNvSpPr/>
          <p:nvPr/>
        </p:nvSpPr>
        <p:spPr>
          <a:xfrm>
            <a:off x="4425696" y="3675888"/>
            <a:ext cx="256032" cy="237744"/>
          </a:xfrm>
          <a:prstGeom prst="rightArrow">
            <a:avLst/>
          </a:prstGeom>
          <a:solidFill>
            <a:srgbClr val="6B7689"/>
          </a:solidFill>
          <a:ln w="12700">
            <a:solidFill>
              <a:srgbClr val="6B7689"/>
            </a:solidFill>
            <a:prstDash val="solid"/>
          </a:ln>
        </p:spPr>
      </p:sp>
      <p:sp>
        <p:nvSpPr>
          <p:cNvPr id="38" name="card_137"/>
          <p:cNvSpPr/>
          <p:nvPr/>
        </p:nvSpPr>
        <p:spPr>
          <a:xfrm>
            <a:off x="4718304" y="3017520"/>
            <a:ext cx="1828800" cy="1600200"/>
          </a:xfrm>
          <a:prstGeom prst="roundRect">
            <a:avLst>
              <a:gd name="adj" fmla="val 5714"/>
            </a:avLst>
          </a:prstGeom>
          <a:solidFill>
            <a:schemeClr val="bg2"/>
          </a:solidFill>
          <a:ln w="12700">
            <a:solidFill>
              <a:schemeClr val="bg2"/>
            </a:solidFill>
            <a:prstDash val="solid"/>
          </a:ln>
        </p:spPr>
      </p:sp>
      <p:sp>
        <p:nvSpPr>
          <p:cNvPr id="39" name="num_138"/>
          <p:cNvSpPr/>
          <p:nvPr/>
        </p:nvSpPr>
        <p:spPr>
          <a:xfrm>
            <a:off x="4855464" y="3154680"/>
            <a:ext cx="411480" cy="411480"/>
          </a:xfrm>
          <a:prstGeom prst="ellipse">
            <a:avLst/>
          </a:prstGeom>
          <a:solidFill>
            <a:srgbClr val="D9482B"/>
          </a:solidFill>
          <a:ln w="12700">
            <a:solidFill>
              <a:srgbClr val="D9482B"/>
            </a:solidFill>
            <a:prstDash val="solid"/>
          </a:ln>
        </p:spPr>
      </p:sp>
      <p:sp>
        <p:nvSpPr>
          <p:cNvPr id="40" name="numtxt_139"/>
          <p:cNvSpPr txBox="1"/>
          <p:nvPr/>
        </p:nvSpPr>
        <p:spPr>
          <a:xfrm>
            <a:off x="4855464" y="315468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41" name="text_140"/>
          <p:cNvSpPr txBox="1"/>
          <p:nvPr/>
        </p:nvSpPr>
        <p:spPr>
          <a:xfrm>
            <a:off x="4855464" y="3639312"/>
            <a:ext cx="1554480" cy="457200"/>
          </a:xfrm>
          <a:prstGeom prst="rect">
            <a:avLst/>
          </a:prstGeom>
          <a:noFill/>
          <a:ln/>
        </p:spPr>
        <p:txBody>
          <a:bodyPr wrap="square" lIns="0" tIns="0" rIns="0" bIns="0" rtlCol="0" anchor="t"/>
          <a:lstStyle/>
          <a:p>
            <a:pPr marL="0" indent="0">
              <a:buNone/>
            </a:pPr>
            <a:r>
              <a:rPr lang="en-US" sz="1500" b="1" dirty="0">
                <a:solidFill>
                  <a:schemeClr val="tx2"/>
                </a:solidFill>
              </a:rPr>
              <a:t>Performance comparison</a:t>
            </a:r>
            <a:endParaRPr lang="en-US" sz="1500" dirty="0"/>
          </a:p>
        </p:txBody>
      </p:sp>
      <p:sp>
        <p:nvSpPr>
          <p:cNvPr id="42" name="text_141"/>
          <p:cNvSpPr txBox="1"/>
          <p:nvPr/>
        </p:nvSpPr>
        <p:spPr>
          <a:xfrm>
            <a:off x="4855464" y="4178808"/>
            <a:ext cx="1554480" cy="411480"/>
          </a:xfrm>
          <a:prstGeom prst="rect">
            <a:avLst/>
          </a:prstGeom>
          <a:noFill/>
          <a:ln/>
        </p:spPr>
        <p:txBody>
          <a:bodyPr wrap="square" lIns="0" tIns="0" rIns="0" bIns="0" rtlCol="0" anchor="t"/>
          <a:lstStyle/>
          <a:p>
            <a:pPr marL="0" indent="0">
              <a:buNone/>
            </a:pPr>
            <a:r>
              <a:rPr lang="en-US" sz="1300" dirty="0">
                <a:solidFill>
                  <a:schemeClr val="tx1"/>
                </a:solidFill>
              </a:rPr>
              <a:t>Time, slots, clashes</a:t>
            </a:r>
            <a:endParaRPr lang="en-US" sz="1300" dirty="0"/>
          </a:p>
        </p:txBody>
      </p:sp>
      <p:sp>
        <p:nvSpPr>
          <p:cNvPr id="43" name="arrow_142"/>
          <p:cNvSpPr/>
          <p:nvPr/>
        </p:nvSpPr>
        <p:spPr>
          <a:xfrm>
            <a:off x="6556248" y="3675888"/>
            <a:ext cx="256032" cy="237744"/>
          </a:xfrm>
          <a:prstGeom prst="rightArrow">
            <a:avLst/>
          </a:prstGeom>
          <a:solidFill>
            <a:srgbClr val="6B7689"/>
          </a:solidFill>
          <a:ln w="12700">
            <a:solidFill>
              <a:srgbClr val="6B7689"/>
            </a:solidFill>
            <a:prstDash val="solid"/>
          </a:ln>
        </p:spPr>
      </p:sp>
      <p:sp>
        <p:nvSpPr>
          <p:cNvPr id="44" name="card_143"/>
          <p:cNvSpPr/>
          <p:nvPr/>
        </p:nvSpPr>
        <p:spPr>
          <a:xfrm>
            <a:off x="6848856" y="3017520"/>
            <a:ext cx="1828800" cy="1600200"/>
          </a:xfrm>
          <a:prstGeom prst="roundRect">
            <a:avLst>
              <a:gd name="adj" fmla="val 5714"/>
            </a:avLst>
          </a:prstGeom>
          <a:solidFill>
            <a:schemeClr val="bg2"/>
          </a:solidFill>
          <a:ln w="12700">
            <a:solidFill>
              <a:schemeClr val="bg2"/>
            </a:solidFill>
            <a:prstDash val="solid"/>
          </a:ln>
        </p:spPr>
      </p:sp>
      <p:sp>
        <p:nvSpPr>
          <p:cNvPr id="45" name="num_144"/>
          <p:cNvSpPr/>
          <p:nvPr/>
        </p:nvSpPr>
        <p:spPr>
          <a:xfrm>
            <a:off x="6986016" y="3154680"/>
            <a:ext cx="411480" cy="411480"/>
          </a:xfrm>
          <a:prstGeom prst="ellipse">
            <a:avLst/>
          </a:prstGeom>
          <a:solidFill>
            <a:srgbClr val="3E8E41"/>
          </a:solidFill>
          <a:ln w="12700">
            <a:solidFill>
              <a:srgbClr val="3E8E41"/>
            </a:solidFill>
            <a:prstDash val="solid"/>
          </a:ln>
        </p:spPr>
      </p:sp>
      <p:sp>
        <p:nvSpPr>
          <p:cNvPr id="46" name="numtxt_145"/>
          <p:cNvSpPr txBox="1"/>
          <p:nvPr/>
        </p:nvSpPr>
        <p:spPr>
          <a:xfrm>
            <a:off x="6986016" y="315468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8</a:t>
            </a:r>
            <a:endParaRPr lang="en-US" sz="1600" dirty="0"/>
          </a:p>
        </p:txBody>
      </p:sp>
      <p:sp>
        <p:nvSpPr>
          <p:cNvPr id="47" name="text_146"/>
          <p:cNvSpPr txBox="1"/>
          <p:nvPr/>
        </p:nvSpPr>
        <p:spPr>
          <a:xfrm>
            <a:off x="6986016" y="3639312"/>
            <a:ext cx="1554480" cy="457200"/>
          </a:xfrm>
          <a:prstGeom prst="rect">
            <a:avLst/>
          </a:prstGeom>
          <a:noFill/>
          <a:ln/>
        </p:spPr>
        <p:txBody>
          <a:bodyPr wrap="square" lIns="0" tIns="0" rIns="0" bIns="0" rtlCol="0" anchor="t"/>
          <a:lstStyle/>
          <a:p>
            <a:pPr marL="0" indent="0">
              <a:buNone/>
            </a:pPr>
            <a:r>
              <a:rPr lang="en-US" sz="1500" b="1" dirty="0">
                <a:solidFill>
                  <a:schemeClr val="tx2"/>
                </a:solidFill>
              </a:rPr>
              <a:t>Results &amp; conclusion</a:t>
            </a:r>
            <a:endParaRPr lang="en-US" sz="1500" dirty="0"/>
          </a:p>
        </p:txBody>
      </p:sp>
      <p:sp>
        <p:nvSpPr>
          <p:cNvPr id="48" name="text_147"/>
          <p:cNvSpPr txBox="1"/>
          <p:nvPr/>
        </p:nvSpPr>
        <p:spPr>
          <a:xfrm>
            <a:off x="6986016" y="4178808"/>
            <a:ext cx="1554480" cy="411480"/>
          </a:xfrm>
          <a:prstGeom prst="rect">
            <a:avLst/>
          </a:prstGeom>
          <a:noFill/>
          <a:ln/>
        </p:spPr>
        <p:txBody>
          <a:bodyPr wrap="square" lIns="0" tIns="0" rIns="0" bIns="0" rtlCol="0" anchor="t"/>
          <a:lstStyle/>
          <a:p>
            <a:pPr marL="0" indent="0">
              <a:buNone/>
            </a:pPr>
            <a:r>
              <a:rPr lang="en-US" sz="1300" dirty="0">
                <a:solidFill>
                  <a:schemeClr val="tx1"/>
                </a:solidFill>
              </a:rPr>
              <a:t>Graphs and analysis</a:t>
            </a:r>
            <a:endParaRPr lang="en-US" sz="1300" dirty="0"/>
          </a:p>
        </p:txBody>
      </p:sp>
      <p:sp>
        <p:nvSpPr>
          <p:cNvPr id="49"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Algorithms Used</a:t>
            </a:r>
            <a:endParaRPr lang="en-US" sz="3600" dirty="0"/>
          </a:p>
        </p:txBody>
      </p:sp>
      <p:sp>
        <p:nvSpPr>
          <p:cNvPr id="3" name="card_148"/>
          <p:cNvSpPr/>
          <p:nvPr/>
        </p:nvSpPr>
        <p:spPr>
          <a:xfrm>
            <a:off x="457200" y="1188720"/>
            <a:ext cx="2624328" cy="3474720"/>
          </a:xfrm>
          <a:prstGeom prst="roundRect">
            <a:avLst>
              <a:gd name="adj" fmla="val 3484"/>
            </a:avLst>
          </a:prstGeom>
          <a:solidFill>
            <a:schemeClr val="bg2"/>
          </a:solidFill>
          <a:ln w="12700">
            <a:solidFill>
              <a:schemeClr val="bg2"/>
            </a:solidFill>
            <a:prstDash val="solid"/>
          </a:ln>
        </p:spPr>
      </p:sp>
      <p:sp>
        <p:nvSpPr>
          <p:cNvPr id="4" name="dot_149"/>
          <p:cNvSpPr/>
          <p:nvPr/>
        </p:nvSpPr>
        <p:spPr>
          <a:xfrm>
            <a:off x="685800" y="1444752"/>
            <a:ext cx="292608" cy="292608"/>
          </a:xfrm>
          <a:prstGeom prst="ellipse">
            <a:avLst/>
          </a:prstGeom>
          <a:solidFill>
            <a:srgbClr val="0B7F8B"/>
          </a:solidFill>
          <a:ln w="12700">
            <a:solidFill>
              <a:srgbClr val="0B7F8B"/>
            </a:solidFill>
            <a:prstDash val="solid"/>
          </a:ln>
        </p:spPr>
      </p:sp>
      <p:sp>
        <p:nvSpPr>
          <p:cNvPr id="5" name="text_150"/>
          <p:cNvSpPr txBox="1"/>
          <p:nvPr/>
        </p:nvSpPr>
        <p:spPr>
          <a:xfrm>
            <a:off x="1097280" y="1371600"/>
            <a:ext cx="1801368" cy="457200"/>
          </a:xfrm>
          <a:prstGeom prst="rect">
            <a:avLst/>
          </a:prstGeom>
          <a:noFill/>
          <a:ln/>
        </p:spPr>
        <p:txBody>
          <a:bodyPr wrap="square" lIns="0" tIns="0" rIns="0" bIns="0" rtlCol="0" anchor="ctr"/>
          <a:lstStyle/>
          <a:p>
            <a:pPr marL="0" indent="0">
              <a:buNone/>
            </a:pPr>
            <a:r>
              <a:rPr lang="en-US" sz="1800" b="1" dirty="0">
                <a:solidFill>
                  <a:schemeClr val="tx2"/>
                </a:solidFill>
              </a:rPr>
              <a:t>Graph colouring</a:t>
            </a:r>
            <a:endParaRPr lang="en-US" sz="1800" dirty="0"/>
          </a:p>
        </p:txBody>
      </p:sp>
      <p:sp>
        <p:nvSpPr>
          <p:cNvPr id="6" name="text_151"/>
          <p:cNvSpPr txBox="1"/>
          <p:nvPr/>
        </p:nvSpPr>
        <p:spPr>
          <a:xfrm>
            <a:off x="685800" y="1965960"/>
            <a:ext cx="2167128" cy="2606040"/>
          </a:xfrm>
          <a:prstGeom prst="rect">
            <a:avLst/>
          </a:prstGeom>
          <a:noFill/>
          <a:ln/>
        </p:spPr>
        <p:txBody>
          <a:bodyPr wrap="square" lIns="0" tIns="0" rIns="0" bIns="0" rtlCol="0" anchor="t"/>
          <a:lstStyle/>
          <a:p>
            <a:pPr marL="0" indent="0">
              <a:buNone/>
            </a:pPr>
            <a:r>
              <a:rPr lang="en-US" sz="1400" b="1" dirty="0">
                <a:solidFill>
                  <a:schemeClr val="tx2"/>
                </a:solidFill>
              </a:rPr>
              <a:t>Idea</a:t>
            </a:r>
            <a:endParaRPr lang="en-US" sz="1400" dirty="0"/>
          </a:p>
          <a:p>
            <a:pPr marL="0" indent="0">
              <a:buNone/>
            </a:pPr>
            <a:r>
              <a:rPr lang="en-US" sz="1400" dirty="0">
                <a:solidFill>
                  <a:schemeClr val="tx1"/>
                </a:solidFill>
              </a:rPr>
              <a:t>Take lectures in the order typed. Give each the first safe slot.</a:t>
            </a:r>
            <a:endParaRPr lang="en-US" sz="1400" dirty="0"/>
          </a:p>
          <a:p>
            <a:pPr marL="0" indent="0">
              <a:spcBef>
                <a:spcPts val="1200"/>
              </a:spcBef>
              <a:buNone/>
            </a:pPr>
            <a:r>
              <a:rPr lang="en-US" sz="1400" b="1" dirty="0">
                <a:solidFill>
                  <a:schemeClr val="tx2"/>
                </a:solidFill>
              </a:rPr>
              <a:t>Why chosen</a:t>
            </a:r>
            <a:endParaRPr lang="en-US" sz="1400" dirty="0"/>
          </a:p>
          <a:p>
            <a:pPr marL="0" indent="0">
              <a:buNone/>
            </a:pPr>
            <a:r>
              <a:rPr lang="en-US" sz="1400" dirty="0">
                <a:solidFill>
                  <a:schemeClr val="tx1"/>
                </a:solidFill>
              </a:rPr>
              <a:t>The simplest starting point.</a:t>
            </a:r>
            <a:endParaRPr lang="en-US" sz="1400" dirty="0"/>
          </a:p>
          <a:p>
            <a:pPr marL="0" indent="0">
              <a:spcBef>
                <a:spcPts val="1200"/>
              </a:spcBef>
              <a:buNone/>
            </a:pPr>
            <a:r>
              <a:rPr lang="en-US" sz="1400" b="1" dirty="0">
                <a:solidFill>
                  <a:schemeClr val="tx2"/>
                </a:solidFill>
              </a:rPr>
              <a:t>Data structures</a:t>
            </a:r>
            <a:endParaRPr lang="en-US" sz="1400" dirty="0"/>
          </a:p>
          <a:p>
            <a:pPr marL="0" indent="0">
              <a:buNone/>
            </a:pPr>
            <a:r>
              <a:rPr lang="en-US" sz="1400" dirty="0">
                <a:solidFill>
                  <a:schemeClr val="tx1"/>
                </a:solidFill>
              </a:rPr>
              <a:t>Dictionary of lists, slot counts</a:t>
            </a:r>
            <a:endParaRPr lang="en-US" sz="1400" dirty="0"/>
          </a:p>
        </p:txBody>
      </p:sp>
      <p:sp>
        <p:nvSpPr>
          <p:cNvPr id="7" name="card_152"/>
          <p:cNvSpPr/>
          <p:nvPr/>
        </p:nvSpPr>
        <p:spPr>
          <a:xfrm>
            <a:off x="3264408" y="1188720"/>
            <a:ext cx="2624328" cy="3474720"/>
          </a:xfrm>
          <a:prstGeom prst="roundRect">
            <a:avLst>
              <a:gd name="adj" fmla="val 3484"/>
            </a:avLst>
          </a:prstGeom>
          <a:solidFill>
            <a:schemeClr val="bg2"/>
          </a:solidFill>
          <a:ln w="12700">
            <a:solidFill>
              <a:schemeClr val="bg2"/>
            </a:solidFill>
            <a:prstDash val="solid"/>
          </a:ln>
        </p:spPr>
      </p:sp>
      <p:sp>
        <p:nvSpPr>
          <p:cNvPr id="8" name="dot_153"/>
          <p:cNvSpPr/>
          <p:nvPr/>
        </p:nvSpPr>
        <p:spPr>
          <a:xfrm>
            <a:off x="3493008" y="1444752"/>
            <a:ext cx="292608" cy="292608"/>
          </a:xfrm>
          <a:prstGeom prst="ellipse">
            <a:avLst/>
          </a:prstGeom>
          <a:solidFill>
            <a:srgbClr val="6B5CE7"/>
          </a:solidFill>
          <a:ln w="12700">
            <a:solidFill>
              <a:srgbClr val="6B5CE7"/>
            </a:solidFill>
            <a:prstDash val="solid"/>
          </a:ln>
        </p:spPr>
      </p:sp>
      <p:sp>
        <p:nvSpPr>
          <p:cNvPr id="9" name="text_154"/>
          <p:cNvSpPr txBox="1"/>
          <p:nvPr/>
        </p:nvSpPr>
        <p:spPr>
          <a:xfrm>
            <a:off x="3904488" y="1371600"/>
            <a:ext cx="1801368" cy="457200"/>
          </a:xfrm>
          <a:prstGeom prst="rect">
            <a:avLst/>
          </a:prstGeom>
          <a:noFill/>
          <a:ln/>
        </p:spPr>
        <p:txBody>
          <a:bodyPr wrap="square" lIns="0" tIns="0" rIns="0" bIns="0" rtlCol="0" anchor="ctr"/>
          <a:lstStyle/>
          <a:p>
            <a:pPr marL="0" indent="0">
              <a:buNone/>
            </a:pPr>
            <a:r>
              <a:rPr lang="en-US" sz="1800" b="1" dirty="0">
                <a:solidFill>
                  <a:schemeClr val="tx2"/>
                </a:solidFill>
              </a:rPr>
              <a:t>Greedy</a:t>
            </a:r>
            <a:endParaRPr lang="en-US" sz="1800" dirty="0"/>
          </a:p>
        </p:txBody>
      </p:sp>
      <p:sp>
        <p:nvSpPr>
          <p:cNvPr id="10" name="text_155"/>
          <p:cNvSpPr txBox="1"/>
          <p:nvPr/>
        </p:nvSpPr>
        <p:spPr>
          <a:xfrm>
            <a:off x="3493008" y="1965960"/>
            <a:ext cx="2167128" cy="2606040"/>
          </a:xfrm>
          <a:prstGeom prst="rect">
            <a:avLst/>
          </a:prstGeom>
          <a:noFill/>
          <a:ln/>
        </p:spPr>
        <p:txBody>
          <a:bodyPr wrap="square" lIns="0" tIns="0" rIns="0" bIns="0" rtlCol="0" anchor="t"/>
          <a:lstStyle/>
          <a:p>
            <a:pPr marL="0" indent="0">
              <a:buNone/>
            </a:pPr>
            <a:r>
              <a:rPr lang="en-US" sz="1400" b="1" dirty="0">
                <a:solidFill>
                  <a:schemeClr val="tx2"/>
                </a:solidFill>
              </a:rPr>
              <a:t>Idea</a:t>
            </a:r>
            <a:endParaRPr lang="en-US" sz="1400" dirty="0"/>
          </a:p>
          <a:p>
            <a:pPr marL="0" indent="0">
              <a:buNone/>
            </a:pPr>
            <a:r>
              <a:rPr lang="en-US" sz="1400" dirty="0">
                <a:solidFill>
                  <a:schemeClr val="tx1"/>
                </a:solidFill>
              </a:rPr>
              <a:t>Same, but sort first: the lecture with most clashes goes first (Welsh-Powell).</a:t>
            </a:r>
            <a:endParaRPr lang="en-US" sz="1400" dirty="0"/>
          </a:p>
          <a:p>
            <a:pPr marL="0" indent="0">
              <a:spcBef>
                <a:spcPts val="1200"/>
              </a:spcBef>
              <a:buNone/>
            </a:pPr>
            <a:r>
              <a:rPr lang="en-US" sz="1400" b="1" dirty="0">
                <a:solidFill>
                  <a:schemeClr val="tx2"/>
                </a:solidFill>
              </a:rPr>
              <a:t>Why chosen</a:t>
            </a:r>
            <a:endParaRPr lang="en-US" sz="1400" dirty="0"/>
          </a:p>
          <a:p>
            <a:pPr marL="0" indent="0">
              <a:buNone/>
            </a:pPr>
            <a:r>
              <a:rPr lang="en-US" sz="1400" dirty="0">
                <a:solidFill>
                  <a:schemeClr val="tx1"/>
                </a:solidFill>
              </a:rPr>
              <a:t>Hardest first, fewer wasted slots.</a:t>
            </a:r>
            <a:endParaRPr lang="en-US" sz="1400" dirty="0"/>
          </a:p>
          <a:p>
            <a:pPr marL="0" indent="0">
              <a:spcBef>
                <a:spcPts val="1200"/>
              </a:spcBef>
              <a:buNone/>
            </a:pPr>
            <a:r>
              <a:rPr lang="en-US" sz="1400" b="1" dirty="0">
                <a:solidFill>
                  <a:schemeClr val="tx2"/>
                </a:solidFill>
              </a:rPr>
              <a:t>Data structures</a:t>
            </a:r>
            <a:endParaRPr lang="en-US" sz="1400" dirty="0"/>
          </a:p>
          <a:p>
            <a:pPr marL="0" indent="0">
              <a:buNone/>
            </a:pPr>
            <a:r>
              <a:rPr lang="en-US" sz="1400" dirty="0">
                <a:solidFill>
                  <a:schemeClr val="tx1"/>
                </a:solidFill>
              </a:rPr>
              <a:t>Sorted list, adjacency lists</a:t>
            </a:r>
            <a:endParaRPr lang="en-US" sz="1400" dirty="0"/>
          </a:p>
        </p:txBody>
      </p:sp>
      <p:sp>
        <p:nvSpPr>
          <p:cNvPr id="11" name="card_156"/>
          <p:cNvSpPr/>
          <p:nvPr/>
        </p:nvSpPr>
        <p:spPr>
          <a:xfrm>
            <a:off x="6071616" y="1188720"/>
            <a:ext cx="2624328" cy="3474720"/>
          </a:xfrm>
          <a:prstGeom prst="roundRect">
            <a:avLst>
              <a:gd name="adj" fmla="val 3484"/>
            </a:avLst>
          </a:prstGeom>
          <a:solidFill>
            <a:schemeClr val="bg2"/>
          </a:solidFill>
          <a:ln w="12700">
            <a:solidFill>
              <a:schemeClr val="bg2"/>
            </a:solidFill>
            <a:prstDash val="solid"/>
          </a:ln>
        </p:spPr>
      </p:sp>
      <p:sp>
        <p:nvSpPr>
          <p:cNvPr id="12" name="dot_157"/>
          <p:cNvSpPr/>
          <p:nvPr/>
        </p:nvSpPr>
        <p:spPr>
          <a:xfrm>
            <a:off x="6300216" y="1444752"/>
            <a:ext cx="292608" cy="292608"/>
          </a:xfrm>
          <a:prstGeom prst="ellipse">
            <a:avLst/>
          </a:prstGeom>
          <a:solidFill>
            <a:srgbClr val="D9482B"/>
          </a:solidFill>
          <a:ln w="12700">
            <a:solidFill>
              <a:srgbClr val="D9482B"/>
            </a:solidFill>
            <a:prstDash val="solid"/>
          </a:ln>
        </p:spPr>
      </p:sp>
      <p:sp>
        <p:nvSpPr>
          <p:cNvPr id="13" name="text_158"/>
          <p:cNvSpPr txBox="1"/>
          <p:nvPr/>
        </p:nvSpPr>
        <p:spPr>
          <a:xfrm>
            <a:off x="6711696" y="1371600"/>
            <a:ext cx="1801368" cy="457200"/>
          </a:xfrm>
          <a:prstGeom prst="rect">
            <a:avLst/>
          </a:prstGeom>
          <a:noFill/>
          <a:ln/>
        </p:spPr>
        <p:txBody>
          <a:bodyPr wrap="square" lIns="0" tIns="0" rIns="0" bIns="0" rtlCol="0" anchor="ctr"/>
          <a:lstStyle/>
          <a:p>
            <a:pPr marL="0" indent="0">
              <a:buNone/>
            </a:pPr>
            <a:r>
              <a:rPr lang="en-US" sz="1800" b="1" dirty="0">
                <a:solidFill>
                  <a:schemeClr val="tx2"/>
                </a:solidFill>
              </a:rPr>
              <a:t>Backtracking</a:t>
            </a:r>
            <a:endParaRPr lang="en-US" sz="1800" dirty="0"/>
          </a:p>
        </p:txBody>
      </p:sp>
      <p:sp>
        <p:nvSpPr>
          <p:cNvPr id="14" name="text_159"/>
          <p:cNvSpPr txBox="1"/>
          <p:nvPr/>
        </p:nvSpPr>
        <p:spPr>
          <a:xfrm>
            <a:off x="6300216" y="1965960"/>
            <a:ext cx="2167128" cy="2606040"/>
          </a:xfrm>
          <a:prstGeom prst="rect">
            <a:avLst/>
          </a:prstGeom>
          <a:noFill/>
          <a:ln/>
        </p:spPr>
        <p:txBody>
          <a:bodyPr wrap="square" lIns="0" tIns="0" rIns="0" bIns="0" rtlCol="0" anchor="t"/>
          <a:lstStyle/>
          <a:p>
            <a:pPr marL="0" indent="0">
              <a:buNone/>
            </a:pPr>
            <a:r>
              <a:rPr lang="en-US" sz="1400" b="1" dirty="0">
                <a:solidFill>
                  <a:schemeClr val="tx2"/>
                </a:solidFill>
              </a:rPr>
              <a:t>Idea</a:t>
            </a:r>
            <a:endParaRPr lang="en-US" sz="1400" dirty="0"/>
          </a:p>
          <a:p>
            <a:pPr marL="0" indent="0">
              <a:buNone/>
            </a:pPr>
            <a:r>
              <a:rPr lang="en-US" sz="1400" dirty="0">
                <a:solidFill>
                  <a:schemeClr val="tx1"/>
                </a:solidFill>
              </a:rPr>
              <a:t>Can all lectures fit in k slots? Try, get stuck, undo, retry.</a:t>
            </a:r>
            <a:endParaRPr lang="en-US" sz="1400" dirty="0"/>
          </a:p>
          <a:p>
            <a:pPr marL="0" indent="0">
              <a:spcBef>
                <a:spcPts val="1200"/>
              </a:spcBef>
              <a:buNone/>
            </a:pPr>
            <a:r>
              <a:rPr lang="en-US" sz="1400" b="1" dirty="0">
                <a:solidFill>
                  <a:schemeClr val="tx2"/>
                </a:solidFill>
              </a:rPr>
              <a:t>Why chosen</a:t>
            </a:r>
            <a:endParaRPr lang="en-US" sz="1400" dirty="0"/>
          </a:p>
          <a:p>
            <a:pPr marL="0" indent="0">
              <a:buNone/>
            </a:pPr>
            <a:r>
              <a:rPr lang="en-US" sz="1400" dirty="0">
                <a:solidFill>
                  <a:schemeClr val="tx1"/>
                </a:solidFill>
              </a:rPr>
              <a:t>Gives the best answer to compare with.</a:t>
            </a:r>
            <a:endParaRPr lang="en-US" sz="1400" dirty="0"/>
          </a:p>
          <a:p>
            <a:pPr marL="0" indent="0">
              <a:spcBef>
                <a:spcPts val="1200"/>
              </a:spcBef>
              <a:buNone/>
            </a:pPr>
            <a:r>
              <a:rPr lang="en-US" sz="1400" b="1" dirty="0">
                <a:solidFill>
                  <a:schemeClr val="tx2"/>
                </a:solidFill>
              </a:rPr>
              <a:t>Data structures</a:t>
            </a:r>
            <a:endParaRPr lang="en-US" sz="1400" dirty="0"/>
          </a:p>
          <a:p>
            <a:pPr marL="0" indent="0">
              <a:buNone/>
            </a:pPr>
            <a:r>
              <a:rPr lang="en-US" sz="1400" dirty="0">
                <a:solidFill>
                  <a:schemeClr val="tx1"/>
                </a:solidFill>
              </a:rPr>
              <a:t>Recursion stack, slot counts</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Algorithm &amp; Pseudocode</a:t>
            </a:r>
            <a:endParaRPr lang="en-US" sz="3600" dirty="0"/>
          </a:p>
        </p:txBody>
      </p:sp>
      <p:sp>
        <p:nvSpPr>
          <p:cNvPr id="3" name="text_160"/>
          <p:cNvSpPr txBox="1"/>
          <p:nvPr/>
        </p:nvSpPr>
        <p:spPr>
          <a:xfrm>
            <a:off x="457200" y="1143000"/>
            <a:ext cx="4023360" cy="320040"/>
          </a:xfrm>
          <a:prstGeom prst="rect">
            <a:avLst/>
          </a:prstGeom>
          <a:noFill/>
          <a:ln/>
        </p:spPr>
        <p:txBody>
          <a:bodyPr wrap="square" lIns="0" tIns="0" rIns="0" bIns="0" rtlCol="0" anchor="t"/>
          <a:lstStyle/>
          <a:p>
            <a:pPr marL="0" indent="0">
              <a:buNone/>
            </a:pPr>
            <a:r>
              <a:rPr lang="en-US" sz="1600" b="1" dirty="0">
                <a:solidFill>
                  <a:schemeClr val="tx2"/>
                </a:solidFill>
              </a:rPr>
              <a:t>Greedy (Welsh-Powell) / Basic</a:t>
            </a:r>
            <a:endParaRPr lang="en-US" sz="1600" dirty="0"/>
          </a:p>
        </p:txBody>
      </p:sp>
      <p:sp>
        <p:nvSpPr>
          <p:cNvPr id="4" name="codebox_161"/>
          <p:cNvSpPr/>
          <p:nvPr/>
        </p:nvSpPr>
        <p:spPr>
          <a:xfrm>
            <a:off x="457200" y="1508760"/>
            <a:ext cx="4023360" cy="2514600"/>
          </a:xfrm>
          <a:prstGeom prst="roundRect">
            <a:avLst>
              <a:gd name="adj" fmla="val 2909"/>
            </a:avLst>
          </a:prstGeom>
          <a:solidFill>
            <a:schemeClr val="tx2"/>
          </a:solidFill>
          <a:ln w="12700">
            <a:solidFill>
              <a:schemeClr val="tx2"/>
            </a:solidFill>
            <a:prstDash val="solid"/>
          </a:ln>
        </p:spPr>
      </p:sp>
      <p:sp>
        <p:nvSpPr>
          <p:cNvPr id="5" name="code_162"/>
          <p:cNvSpPr txBox="1"/>
          <p:nvPr/>
        </p:nvSpPr>
        <p:spPr>
          <a:xfrm>
            <a:off x="566928" y="1572768"/>
            <a:ext cx="3840480" cy="2377440"/>
          </a:xfrm>
          <a:prstGeom prst="rect">
            <a:avLst/>
          </a:prstGeom>
          <a:noFill/>
          <a:ln/>
        </p:spPr>
        <p:txBody>
          <a:bodyPr wrap="square" lIns="0" tIns="0" rIns="0" bIns="0" rtlCol="0" anchor="t"/>
          <a:lstStyle/>
          <a:p>
            <a:pPr marL="0" indent="0">
              <a:buNone/>
            </a:pPr>
            <a:r>
              <a:rPr lang="en-US" sz="1200" dirty="0">
                <a:solidFill>
                  <a:srgbClr val="E6EDF7"/>
                </a:solidFill>
                <a:latin typeface="Courier New" pitchFamily="34" charset="0"/>
                <a:ea typeface="Courier New" pitchFamily="34" charset="-122"/>
                <a:cs typeface="Courier New" pitchFamily="34" charset="-120"/>
              </a:rPr>
              <a:t>order = classes sorted by</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number of clashes</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for each class c in order:</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for slot s in 0..29:</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if a room is free in s and</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no clashing class is in s:</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put c in slot s</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break</a:t>
            </a:r>
            <a:endParaRPr lang="en-US" sz="1200" dirty="0"/>
          </a:p>
          <a:p>
            <a:pPr marL="0" indent="0">
              <a:buNone/>
            </a:pP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Basic colouring: same loop,</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but order = the order typed</a:t>
            </a:r>
            <a:endParaRPr lang="en-US" sz="1200" dirty="0"/>
          </a:p>
        </p:txBody>
      </p:sp>
      <p:sp>
        <p:nvSpPr>
          <p:cNvPr id="6" name="text_163"/>
          <p:cNvSpPr txBox="1"/>
          <p:nvPr/>
        </p:nvSpPr>
        <p:spPr>
          <a:xfrm>
            <a:off x="4663440" y="1143000"/>
            <a:ext cx="4023360" cy="320040"/>
          </a:xfrm>
          <a:prstGeom prst="rect">
            <a:avLst/>
          </a:prstGeom>
          <a:noFill/>
          <a:ln/>
        </p:spPr>
        <p:txBody>
          <a:bodyPr wrap="square" lIns="0" tIns="0" rIns="0" bIns="0" rtlCol="0" anchor="t"/>
          <a:lstStyle/>
          <a:p>
            <a:pPr marL="0" indent="0">
              <a:buNone/>
            </a:pPr>
            <a:r>
              <a:rPr lang="en-US" sz="1600" b="1" dirty="0">
                <a:solidFill>
                  <a:schemeClr val="tx2"/>
                </a:solidFill>
              </a:rPr>
              <a:t>Backtracking (fewest slots)</a:t>
            </a:r>
            <a:endParaRPr lang="en-US" sz="1600" dirty="0"/>
          </a:p>
        </p:txBody>
      </p:sp>
      <p:sp>
        <p:nvSpPr>
          <p:cNvPr id="7" name="codebox_164"/>
          <p:cNvSpPr/>
          <p:nvPr/>
        </p:nvSpPr>
        <p:spPr>
          <a:xfrm>
            <a:off x="4663440" y="1508760"/>
            <a:ext cx="4023360" cy="2514600"/>
          </a:xfrm>
          <a:prstGeom prst="roundRect">
            <a:avLst>
              <a:gd name="adj" fmla="val 2909"/>
            </a:avLst>
          </a:prstGeom>
          <a:solidFill>
            <a:schemeClr val="tx2"/>
          </a:solidFill>
          <a:ln w="12700">
            <a:solidFill>
              <a:schemeClr val="tx2"/>
            </a:solidFill>
            <a:prstDash val="solid"/>
          </a:ln>
        </p:spPr>
      </p:sp>
      <p:sp>
        <p:nvSpPr>
          <p:cNvPr id="8" name="code_165"/>
          <p:cNvSpPr txBox="1"/>
          <p:nvPr/>
        </p:nvSpPr>
        <p:spPr>
          <a:xfrm>
            <a:off x="4773168" y="1572768"/>
            <a:ext cx="3840480" cy="2377440"/>
          </a:xfrm>
          <a:prstGeom prst="rect">
            <a:avLst/>
          </a:prstGeom>
          <a:noFill/>
          <a:ln/>
        </p:spPr>
        <p:txBody>
          <a:bodyPr wrap="square" lIns="0" tIns="0" rIns="0" bIns="0" rtlCol="0" anchor="t"/>
          <a:lstStyle/>
          <a:p>
            <a:pPr marL="0" indent="0">
              <a:buNone/>
            </a:pPr>
            <a:r>
              <a:rPr lang="en-US" sz="1200" dirty="0">
                <a:solidFill>
                  <a:srgbClr val="E6EDF7"/>
                </a:solidFill>
                <a:latin typeface="Courier New" pitchFamily="34" charset="0"/>
                <a:ea typeface="Courier New" pitchFamily="34" charset="-122"/>
                <a:cs typeface="Courier New" pitchFamily="34" charset="-120"/>
              </a:rPr>
              <a:t>solve(i, k):</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if i == n: return True</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c = order[i]</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for slot s in 0..k-1:</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if clash(c, s): continue</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place(c, s, room)</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if solve(i+1, k): return True</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remove(c, s, room)  # undo</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return False</a:t>
            </a:r>
            <a:endParaRPr lang="en-US" sz="1200" dirty="0"/>
          </a:p>
          <a:p>
            <a:pPr marL="0" indent="0">
              <a:buNone/>
            </a:pP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for k = LB, LB+1, ...:</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if solve(0, k): stop  # best</a:t>
            </a:r>
            <a:endParaRPr lang="en-US" sz="1200" dirty="0"/>
          </a:p>
        </p:txBody>
      </p:sp>
      <p:sp>
        <p:nvSpPr>
          <p:cNvPr id="9" name="card_166"/>
          <p:cNvSpPr/>
          <p:nvPr/>
        </p:nvSpPr>
        <p:spPr>
          <a:xfrm>
            <a:off x="457200" y="4160520"/>
            <a:ext cx="4023360" cy="548640"/>
          </a:xfrm>
          <a:prstGeom prst="roundRect">
            <a:avLst>
              <a:gd name="adj" fmla="val 16667"/>
            </a:avLst>
          </a:prstGeom>
          <a:solidFill>
            <a:schemeClr val="bg2"/>
          </a:solidFill>
          <a:ln w="12700">
            <a:solidFill>
              <a:schemeClr val="bg2"/>
            </a:solidFill>
            <a:prstDash val="solid"/>
          </a:ln>
        </p:spPr>
      </p:sp>
      <p:sp>
        <p:nvSpPr>
          <p:cNvPr id="10" name="text_167"/>
          <p:cNvSpPr txBox="1"/>
          <p:nvPr/>
        </p:nvSpPr>
        <p:spPr>
          <a:xfrm>
            <a:off x="457200" y="4160520"/>
            <a:ext cx="4023360" cy="548640"/>
          </a:xfrm>
          <a:prstGeom prst="rect">
            <a:avLst/>
          </a:prstGeom>
          <a:noFill/>
          <a:ln/>
        </p:spPr>
        <p:txBody>
          <a:bodyPr wrap="square" lIns="0" tIns="0" rIns="0" bIns="0" rtlCol="0" anchor="ctr"/>
          <a:lstStyle/>
          <a:p>
            <a:pPr marL="0" indent="0" algn="ctr">
              <a:buNone/>
            </a:pPr>
            <a:r>
              <a:rPr lang="en-US" sz="1500" b="1" dirty="0">
                <a:solidFill>
                  <a:schemeClr val="tx1"/>
                </a:solidFill>
              </a:rPr>
              <a:t>Time </a:t>
            </a:r>
            <a:r>
              <a:rPr lang="en-US" sz="1500" dirty="0">
                <a:solidFill>
                  <a:schemeClr val="tx1"/>
                </a:solidFill>
              </a:rPr>
              <a:t>O(V²)   </a:t>
            </a:r>
            <a:r>
              <a:rPr lang="en-US" sz="1500" b="1" dirty="0">
                <a:solidFill>
                  <a:schemeClr val="tx1"/>
                </a:solidFill>
              </a:rPr>
              <a:t>Space </a:t>
            </a:r>
            <a:r>
              <a:rPr lang="en-US" sz="1500" dirty="0">
                <a:solidFill>
                  <a:schemeClr val="tx1"/>
                </a:solidFill>
              </a:rPr>
              <a:t>O(V + E)</a:t>
            </a:r>
            <a:endParaRPr lang="en-US" sz="1500" dirty="0"/>
          </a:p>
        </p:txBody>
      </p:sp>
      <p:sp>
        <p:nvSpPr>
          <p:cNvPr id="11" name="card_168"/>
          <p:cNvSpPr/>
          <p:nvPr/>
        </p:nvSpPr>
        <p:spPr>
          <a:xfrm>
            <a:off x="4663440" y="4160520"/>
            <a:ext cx="4023360" cy="548640"/>
          </a:xfrm>
          <a:prstGeom prst="roundRect">
            <a:avLst>
              <a:gd name="adj" fmla="val 16667"/>
            </a:avLst>
          </a:prstGeom>
          <a:solidFill>
            <a:schemeClr val="bg2"/>
          </a:solidFill>
          <a:ln w="12700">
            <a:solidFill>
              <a:schemeClr val="bg2"/>
            </a:solidFill>
            <a:prstDash val="solid"/>
          </a:ln>
        </p:spPr>
      </p:sp>
      <p:sp>
        <p:nvSpPr>
          <p:cNvPr id="12" name="text_169"/>
          <p:cNvSpPr txBox="1"/>
          <p:nvPr/>
        </p:nvSpPr>
        <p:spPr>
          <a:xfrm>
            <a:off x="4663440" y="4160520"/>
            <a:ext cx="4023360" cy="548640"/>
          </a:xfrm>
          <a:prstGeom prst="rect">
            <a:avLst/>
          </a:prstGeom>
          <a:noFill/>
          <a:ln/>
        </p:spPr>
        <p:txBody>
          <a:bodyPr wrap="square" lIns="0" tIns="0" rIns="0" bIns="0" rtlCol="0" anchor="ctr"/>
          <a:lstStyle/>
          <a:p>
            <a:pPr marL="0" indent="0" algn="ctr">
              <a:buNone/>
            </a:pPr>
            <a:r>
              <a:rPr lang="en-US" sz="1500" b="1" dirty="0">
                <a:solidFill>
                  <a:schemeClr val="tx1"/>
                </a:solidFill>
              </a:rPr>
              <a:t>Time </a:t>
            </a:r>
            <a:r>
              <a:rPr lang="en-US" sz="1500" dirty="0">
                <a:solidFill>
                  <a:schemeClr val="tx1"/>
                </a:solidFill>
              </a:rPr>
              <a:t>O(k^V) worst   </a:t>
            </a:r>
            <a:r>
              <a:rPr lang="en-US" sz="1500" b="1" dirty="0">
                <a:solidFill>
                  <a:schemeClr val="tx1"/>
                </a:solidFill>
              </a:rPr>
              <a:t>Space </a:t>
            </a:r>
            <a:r>
              <a:rPr lang="en-US" sz="1500" dirty="0">
                <a:solidFill>
                  <a:schemeClr val="tx1"/>
                </a:solidFill>
              </a:rPr>
              <a:t>O(V + E)</a:t>
            </a:r>
            <a:endParaRPr lang="en-US" sz="15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System Architecture</a:t>
            </a:r>
            <a:endParaRPr lang="en-US" sz="3600" dirty="0"/>
          </a:p>
        </p:txBody>
      </p:sp>
      <p:sp>
        <p:nvSpPr>
          <p:cNvPr id="3" name="card_170"/>
          <p:cNvSpPr/>
          <p:nvPr/>
        </p:nvSpPr>
        <p:spPr>
          <a:xfrm>
            <a:off x="457200" y="1280160"/>
            <a:ext cx="1417320" cy="2011680"/>
          </a:xfrm>
          <a:prstGeom prst="roundRect">
            <a:avLst>
              <a:gd name="adj" fmla="val 6452"/>
            </a:avLst>
          </a:prstGeom>
          <a:solidFill>
            <a:schemeClr val="bg2"/>
          </a:solidFill>
          <a:ln w="12700">
            <a:solidFill>
              <a:schemeClr val="bg2"/>
            </a:solidFill>
            <a:prstDash val="solid"/>
          </a:ln>
        </p:spPr>
      </p:sp>
      <p:sp>
        <p:nvSpPr>
          <p:cNvPr id="4" name="dot_171"/>
          <p:cNvSpPr/>
          <p:nvPr/>
        </p:nvSpPr>
        <p:spPr>
          <a:xfrm>
            <a:off x="566928" y="1417320"/>
            <a:ext cx="274320" cy="274320"/>
          </a:xfrm>
          <a:prstGeom prst="ellipse">
            <a:avLst/>
          </a:prstGeom>
          <a:solidFill>
            <a:srgbClr val="0B7F8B"/>
          </a:solidFill>
          <a:ln w="12700">
            <a:solidFill>
              <a:srgbClr val="0B7F8B"/>
            </a:solidFill>
            <a:prstDash val="solid"/>
          </a:ln>
        </p:spPr>
      </p:sp>
      <p:sp>
        <p:nvSpPr>
          <p:cNvPr id="5" name="text_172"/>
          <p:cNvSpPr txBox="1"/>
          <p:nvPr/>
        </p:nvSpPr>
        <p:spPr>
          <a:xfrm>
            <a:off x="566928" y="1783080"/>
            <a:ext cx="1234440" cy="320040"/>
          </a:xfrm>
          <a:prstGeom prst="rect">
            <a:avLst/>
          </a:prstGeom>
          <a:noFill/>
          <a:ln/>
        </p:spPr>
        <p:txBody>
          <a:bodyPr wrap="square" lIns="0" tIns="0" rIns="0" bIns="0" rtlCol="0" anchor="t"/>
          <a:lstStyle/>
          <a:p>
            <a:pPr marL="0" indent="0">
              <a:buNone/>
            </a:pPr>
            <a:r>
              <a:rPr lang="en-US" sz="1500" b="1" dirty="0">
                <a:solidFill>
                  <a:schemeClr val="tx2"/>
                </a:solidFill>
              </a:rPr>
              <a:t>User</a:t>
            </a:r>
            <a:endParaRPr lang="en-US" sz="1500" dirty="0"/>
          </a:p>
        </p:txBody>
      </p:sp>
      <p:sp>
        <p:nvSpPr>
          <p:cNvPr id="6" name="text_173"/>
          <p:cNvSpPr txBox="1"/>
          <p:nvPr/>
        </p:nvSpPr>
        <p:spPr>
          <a:xfrm>
            <a:off x="566928" y="2148840"/>
            <a:ext cx="1234440" cy="1097280"/>
          </a:xfrm>
          <a:prstGeom prst="rect">
            <a:avLst/>
          </a:prstGeom>
          <a:noFill/>
          <a:ln/>
        </p:spPr>
        <p:txBody>
          <a:bodyPr wrap="square" lIns="0" tIns="0" rIns="0" bIns="0" rtlCol="0" anchor="t"/>
          <a:lstStyle/>
          <a:p>
            <a:pPr marL="0" indent="0">
              <a:buNone/>
            </a:pPr>
            <a:r>
              <a:rPr lang="en-US" sz="1300" dirty="0">
                <a:solidFill>
                  <a:schemeClr val="tx1"/>
                </a:solidFill>
              </a:rPr>
              <a:t>GUI window or HTML page</a:t>
            </a:r>
            <a:endParaRPr lang="en-US" sz="1300" dirty="0"/>
          </a:p>
        </p:txBody>
      </p:sp>
      <p:sp>
        <p:nvSpPr>
          <p:cNvPr id="7" name="text_174"/>
          <p:cNvSpPr txBox="1"/>
          <p:nvPr/>
        </p:nvSpPr>
        <p:spPr>
          <a:xfrm>
            <a:off x="457200" y="3337560"/>
            <a:ext cx="1417320" cy="228600"/>
          </a:xfrm>
          <a:prstGeom prst="rect">
            <a:avLst/>
          </a:prstGeom>
          <a:noFill/>
          <a:ln/>
        </p:spPr>
        <p:txBody>
          <a:bodyPr wrap="square" lIns="0" tIns="0" rIns="0" bIns="0" rtlCol="0" anchor="t"/>
          <a:lstStyle/>
          <a:p>
            <a:pPr marL="0" indent="0" algn="ctr">
              <a:buNone/>
            </a:pPr>
            <a:r>
              <a:rPr lang="en-US" sz="1100" dirty="0">
                <a:solidFill>
                  <a:schemeClr val="accent6"/>
                </a:solidFill>
              </a:rPr>
              <a:t>gui.py</a:t>
            </a:r>
            <a:endParaRPr lang="en-US" sz="1100" dirty="0"/>
          </a:p>
        </p:txBody>
      </p:sp>
      <p:sp>
        <p:nvSpPr>
          <p:cNvPr id="8" name="arrow_175"/>
          <p:cNvSpPr/>
          <p:nvPr/>
        </p:nvSpPr>
        <p:spPr>
          <a:xfrm>
            <a:off x="1874520" y="2194560"/>
            <a:ext cx="256032" cy="237744"/>
          </a:xfrm>
          <a:prstGeom prst="rightArrow">
            <a:avLst/>
          </a:prstGeom>
          <a:solidFill>
            <a:srgbClr val="6B7689"/>
          </a:solidFill>
          <a:ln w="12700">
            <a:solidFill>
              <a:srgbClr val="6B7689"/>
            </a:solidFill>
            <a:prstDash val="solid"/>
          </a:ln>
        </p:spPr>
      </p:sp>
      <p:sp>
        <p:nvSpPr>
          <p:cNvPr id="9" name="card_176"/>
          <p:cNvSpPr/>
          <p:nvPr/>
        </p:nvSpPr>
        <p:spPr>
          <a:xfrm>
            <a:off x="2157984" y="1280160"/>
            <a:ext cx="1417320" cy="2011680"/>
          </a:xfrm>
          <a:prstGeom prst="roundRect">
            <a:avLst>
              <a:gd name="adj" fmla="val 6452"/>
            </a:avLst>
          </a:prstGeom>
          <a:solidFill>
            <a:schemeClr val="bg2"/>
          </a:solidFill>
          <a:ln w="12700">
            <a:solidFill>
              <a:schemeClr val="bg2"/>
            </a:solidFill>
            <a:prstDash val="solid"/>
          </a:ln>
        </p:spPr>
      </p:sp>
      <p:sp>
        <p:nvSpPr>
          <p:cNvPr id="10" name="dot_177"/>
          <p:cNvSpPr/>
          <p:nvPr/>
        </p:nvSpPr>
        <p:spPr>
          <a:xfrm>
            <a:off x="2267712" y="1417320"/>
            <a:ext cx="274320" cy="274320"/>
          </a:xfrm>
          <a:prstGeom prst="ellipse">
            <a:avLst/>
          </a:prstGeom>
          <a:solidFill>
            <a:srgbClr val="6B5CE7"/>
          </a:solidFill>
          <a:ln w="12700">
            <a:solidFill>
              <a:srgbClr val="6B5CE7"/>
            </a:solidFill>
            <a:prstDash val="solid"/>
          </a:ln>
        </p:spPr>
      </p:sp>
      <p:sp>
        <p:nvSpPr>
          <p:cNvPr id="11" name="text_178"/>
          <p:cNvSpPr txBox="1"/>
          <p:nvPr/>
        </p:nvSpPr>
        <p:spPr>
          <a:xfrm>
            <a:off x="2267712" y="1783080"/>
            <a:ext cx="1234440" cy="320040"/>
          </a:xfrm>
          <a:prstGeom prst="rect">
            <a:avLst/>
          </a:prstGeom>
          <a:noFill/>
          <a:ln/>
        </p:spPr>
        <p:txBody>
          <a:bodyPr wrap="square" lIns="0" tIns="0" rIns="0" bIns="0" rtlCol="0" anchor="t"/>
          <a:lstStyle/>
          <a:p>
            <a:pPr marL="0" indent="0">
              <a:buNone/>
            </a:pPr>
            <a:r>
              <a:rPr lang="en-US" sz="1500" b="1" dirty="0">
                <a:solidFill>
                  <a:schemeClr val="tx2"/>
                </a:solidFill>
              </a:rPr>
              <a:t>Input</a:t>
            </a:r>
            <a:endParaRPr lang="en-US" sz="1500" dirty="0"/>
          </a:p>
        </p:txBody>
      </p:sp>
      <p:sp>
        <p:nvSpPr>
          <p:cNvPr id="12" name="text_179"/>
          <p:cNvSpPr txBox="1"/>
          <p:nvPr/>
        </p:nvSpPr>
        <p:spPr>
          <a:xfrm>
            <a:off x="2267712" y="2148840"/>
            <a:ext cx="1234440" cy="1097280"/>
          </a:xfrm>
          <a:prstGeom prst="rect">
            <a:avLst/>
          </a:prstGeom>
          <a:noFill/>
          <a:ln/>
        </p:spPr>
        <p:txBody>
          <a:bodyPr wrap="square" lIns="0" tIns="0" rIns="0" bIns="0" rtlCol="0" anchor="t"/>
          <a:lstStyle/>
          <a:p>
            <a:pPr marL="0" indent="0">
              <a:buNone/>
            </a:pPr>
            <a:r>
              <a:rPr lang="en-US" sz="1300" dirty="0">
                <a:solidFill>
                  <a:schemeClr val="tx1"/>
                </a:solidFill>
              </a:rPr>
              <a:t>Lectures, teachers, groups</a:t>
            </a:r>
            <a:endParaRPr lang="en-US" sz="1300" dirty="0"/>
          </a:p>
        </p:txBody>
      </p:sp>
      <p:sp>
        <p:nvSpPr>
          <p:cNvPr id="13" name="text_180"/>
          <p:cNvSpPr txBox="1"/>
          <p:nvPr/>
        </p:nvSpPr>
        <p:spPr>
          <a:xfrm>
            <a:off x="2157984" y="3337560"/>
            <a:ext cx="1417320" cy="228600"/>
          </a:xfrm>
          <a:prstGeom prst="rect">
            <a:avLst/>
          </a:prstGeom>
          <a:noFill/>
          <a:ln/>
        </p:spPr>
        <p:txBody>
          <a:bodyPr wrap="square" lIns="0" tIns="0" rIns="0" bIns="0" rtlCol="0" anchor="t"/>
          <a:lstStyle/>
          <a:p>
            <a:pPr marL="0" indent="0" algn="ctr">
              <a:buNone/>
            </a:pPr>
            <a:r>
              <a:rPr lang="en-US" sz="1100" dirty="0">
                <a:solidFill>
                  <a:schemeClr val="accent6"/>
                </a:solidFill>
              </a:rPr>
              <a:t>data.py</a:t>
            </a:r>
            <a:endParaRPr lang="en-US" sz="1100" dirty="0"/>
          </a:p>
        </p:txBody>
      </p:sp>
      <p:sp>
        <p:nvSpPr>
          <p:cNvPr id="14" name="arrow_181"/>
          <p:cNvSpPr/>
          <p:nvPr/>
        </p:nvSpPr>
        <p:spPr>
          <a:xfrm>
            <a:off x="3575304" y="2194560"/>
            <a:ext cx="256032" cy="237744"/>
          </a:xfrm>
          <a:prstGeom prst="rightArrow">
            <a:avLst/>
          </a:prstGeom>
          <a:solidFill>
            <a:srgbClr val="6B7689"/>
          </a:solidFill>
          <a:ln w="12700">
            <a:solidFill>
              <a:srgbClr val="6B7689"/>
            </a:solidFill>
            <a:prstDash val="solid"/>
          </a:ln>
        </p:spPr>
      </p:sp>
      <p:sp>
        <p:nvSpPr>
          <p:cNvPr id="15" name="card_182"/>
          <p:cNvSpPr/>
          <p:nvPr/>
        </p:nvSpPr>
        <p:spPr>
          <a:xfrm>
            <a:off x="3858768" y="1280160"/>
            <a:ext cx="1417320" cy="2011680"/>
          </a:xfrm>
          <a:prstGeom prst="roundRect">
            <a:avLst>
              <a:gd name="adj" fmla="val 6452"/>
            </a:avLst>
          </a:prstGeom>
          <a:solidFill>
            <a:schemeClr val="bg2"/>
          </a:solidFill>
          <a:ln w="12700">
            <a:solidFill>
              <a:schemeClr val="bg2"/>
            </a:solidFill>
            <a:prstDash val="solid"/>
          </a:ln>
        </p:spPr>
      </p:sp>
      <p:sp>
        <p:nvSpPr>
          <p:cNvPr id="16" name="dot_183"/>
          <p:cNvSpPr/>
          <p:nvPr/>
        </p:nvSpPr>
        <p:spPr>
          <a:xfrm>
            <a:off x="3968496" y="1417320"/>
            <a:ext cx="274320" cy="274320"/>
          </a:xfrm>
          <a:prstGeom prst="ellipse">
            <a:avLst/>
          </a:prstGeom>
          <a:solidFill>
            <a:srgbClr val="D9482B"/>
          </a:solidFill>
          <a:ln w="12700">
            <a:solidFill>
              <a:srgbClr val="D9482B"/>
            </a:solidFill>
            <a:prstDash val="solid"/>
          </a:ln>
        </p:spPr>
      </p:sp>
      <p:sp>
        <p:nvSpPr>
          <p:cNvPr id="17" name="text_184"/>
          <p:cNvSpPr txBox="1"/>
          <p:nvPr/>
        </p:nvSpPr>
        <p:spPr>
          <a:xfrm>
            <a:off x="3968496" y="1783080"/>
            <a:ext cx="1234440" cy="320040"/>
          </a:xfrm>
          <a:prstGeom prst="rect">
            <a:avLst/>
          </a:prstGeom>
          <a:noFill/>
          <a:ln/>
        </p:spPr>
        <p:txBody>
          <a:bodyPr wrap="square" lIns="0" tIns="0" rIns="0" bIns="0" rtlCol="0" anchor="t"/>
          <a:lstStyle/>
          <a:p>
            <a:pPr marL="0" indent="0">
              <a:buNone/>
            </a:pPr>
            <a:r>
              <a:rPr lang="en-US" sz="1500" b="1" dirty="0">
                <a:solidFill>
                  <a:schemeClr val="tx2"/>
                </a:solidFill>
              </a:rPr>
              <a:t>Graph builder</a:t>
            </a:r>
            <a:endParaRPr lang="en-US" sz="1500" dirty="0"/>
          </a:p>
        </p:txBody>
      </p:sp>
      <p:sp>
        <p:nvSpPr>
          <p:cNvPr id="18" name="text_185"/>
          <p:cNvSpPr txBox="1"/>
          <p:nvPr/>
        </p:nvSpPr>
        <p:spPr>
          <a:xfrm>
            <a:off x="3968496" y="2148840"/>
            <a:ext cx="1234440" cy="1097280"/>
          </a:xfrm>
          <a:prstGeom prst="rect">
            <a:avLst/>
          </a:prstGeom>
          <a:noFill/>
          <a:ln/>
        </p:spPr>
        <p:txBody>
          <a:bodyPr wrap="square" lIns="0" tIns="0" rIns="0" bIns="0" rtlCol="0" anchor="t"/>
          <a:lstStyle/>
          <a:p>
            <a:pPr marL="0" indent="0">
              <a:buNone/>
            </a:pPr>
            <a:r>
              <a:rPr lang="en-US" sz="1300" dirty="0">
                <a:solidFill>
                  <a:schemeClr val="tx1"/>
                </a:solidFill>
              </a:rPr>
              <a:t>Lectures become dots, clashes become lines</a:t>
            </a:r>
            <a:endParaRPr lang="en-US" sz="1300" dirty="0"/>
          </a:p>
        </p:txBody>
      </p:sp>
      <p:sp>
        <p:nvSpPr>
          <p:cNvPr id="19" name="text_186"/>
          <p:cNvSpPr txBox="1"/>
          <p:nvPr/>
        </p:nvSpPr>
        <p:spPr>
          <a:xfrm>
            <a:off x="3858768" y="3337560"/>
            <a:ext cx="1417320" cy="228600"/>
          </a:xfrm>
          <a:prstGeom prst="rect">
            <a:avLst/>
          </a:prstGeom>
          <a:noFill/>
          <a:ln/>
        </p:spPr>
        <p:txBody>
          <a:bodyPr wrap="square" lIns="0" tIns="0" rIns="0" bIns="0" rtlCol="0" anchor="t"/>
          <a:lstStyle/>
          <a:p>
            <a:pPr marL="0" indent="0" algn="ctr">
              <a:buNone/>
            </a:pPr>
            <a:r>
              <a:rPr lang="en-US" sz="1100" dirty="0">
                <a:solidFill>
                  <a:schemeClr val="accent6"/>
                </a:solidFill>
              </a:rPr>
              <a:t>conflict_graph.py</a:t>
            </a:r>
            <a:endParaRPr lang="en-US" sz="1100" dirty="0"/>
          </a:p>
        </p:txBody>
      </p:sp>
      <p:sp>
        <p:nvSpPr>
          <p:cNvPr id="20" name="arrow_187"/>
          <p:cNvSpPr/>
          <p:nvPr/>
        </p:nvSpPr>
        <p:spPr>
          <a:xfrm>
            <a:off x="5276088" y="2194560"/>
            <a:ext cx="256032" cy="237744"/>
          </a:xfrm>
          <a:prstGeom prst="rightArrow">
            <a:avLst/>
          </a:prstGeom>
          <a:solidFill>
            <a:srgbClr val="6B7689"/>
          </a:solidFill>
          <a:ln w="12700">
            <a:solidFill>
              <a:srgbClr val="6B7689"/>
            </a:solidFill>
            <a:prstDash val="solid"/>
          </a:ln>
        </p:spPr>
      </p:sp>
      <p:sp>
        <p:nvSpPr>
          <p:cNvPr id="21" name="card_188"/>
          <p:cNvSpPr/>
          <p:nvPr/>
        </p:nvSpPr>
        <p:spPr>
          <a:xfrm>
            <a:off x="5559552" y="1280160"/>
            <a:ext cx="1417320" cy="2011680"/>
          </a:xfrm>
          <a:prstGeom prst="roundRect">
            <a:avLst>
              <a:gd name="adj" fmla="val 6452"/>
            </a:avLst>
          </a:prstGeom>
          <a:solidFill>
            <a:schemeClr val="bg2"/>
          </a:solidFill>
          <a:ln w="12700">
            <a:solidFill>
              <a:schemeClr val="bg2"/>
            </a:solidFill>
            <a:prstDash val="solid"/>
          </a:ln>
        </p:spPr>
      </p:sp>
      <p:sp>
        <p:nvSpPr>
          <p:cNvPr id="22" name="dot_189"/>
          <p:cNvSpPr/>
          <p:nvPr/>
        </p:nvSpPr>
        <p:spPr>
          <a:xfrm>
            <a:off x="5669280" y="1417320"/>
            <a:ext cx="274320" cy="274320"/>
          </a:xfrm>
          <a:prstGeom prst="ellipse">
            <a:avLst/>
          </a:prstGeom>
          <a:solidFill>
            <a:srgbClr val="3E8E41"/>
          </a:solidFill>
          <a:ln w="12700">
            <a:solidFill>
              <a:srgbClr val="3E8E41"/>
            </a:solidFill>
            <a:prstDash val="solid"/>
          </a:ln>
        </p:spPr>
      </p:sp>
      <p:sp>
        <p:nvSpPr>
          <p:cNvPr id="23" name="text_190"/>
          <p:cNvSpPr txBox="1"/>
          <p:nvPr/>
        </p:nvSpPr>
        <p:spPr>
          <a:xfrm>
            <a:off x="5669280" y="1783080"/>
            <a:ext cx="1234440" cy="320040"/>
          </a:xfrm>
          <a:prstGeom prst="rect">
            <a:avLst/>
          </a:prstGeom>
          <a:noFill/>
          <a:ln/>
        </p:spPr>
        <p:txBody>
          <a:bodyPr wrap="square" lIns="0" tIns="0" rIns="0" bIns="0" rtlCol="0" anchor="t"/>
          <a:lstStyle/>
          <a:p>
            <a:pPr marL="0" indent="0">
              <a:buNone/>
            </a:pPr>
            <a:r>
              <a:rPr lang="en-US" sz="1500" b="1" dirty="0">
                <a:solidFill>
                  <a:schemeClr val="tx2"/>
                </a:solidFill>
              </a:rPr>
              <a:t>Algorithms</a:t>
            </a:r>
            <a:endParaRPr lang="en-US" sz="1500" dirty="0"/>
          </a:p>
        </p:txBody>
      </p:sp>
      <p:sp>
        <p:nvSpPr>
          <p:cNvPr id="24" name="text_191"/>
          <p:cNvSpPr txBox="1"/>
          <p:nvPr/>
        </p:nvSpPr>
        <p:spPr>
          <a:xfrm>
            <a:off x="5669280" y="2148840"/>
            <a:ext cx="1234440" cy="1097280"/>
          </a:xfrm>
          <a:prstGeom prst="rect">
            <a:avLst/>
          </a:prstGeom>
          <a:noFill/>
          <a:ln/>
        </p:spPr>
        <p:txBody>
          <a:bodyPr wrap="square" lIns="0" tIns="0" rIns="0" bIns="0" rtlCol="0" anchor="t"/>
          <a:lstStyle/>
          <a:p>
            <a:pPr marL="0" indent="0">
              <a:buNone/>
            </a:pPr>
            <a:r>
              <a:rPr lang="en-US" sz="1300" dirty="0">
                <a:solidFill>
                  <a:schemeClr val="tx1"/>
                </a:solidFill>
              </a:rPr>
              <a:t>Colouring, greedy, backtracking</a:t>
            </a:r>
            <a:endParaRPr lang="en-US" sz="1300" dirty="0"/>
          </a:p>
        </p:txBody>
      </p:sp>
      <p:sp>
        <p:nvSpPr>
          <p:cNvPr id="25" name="text_192"/>
          <p:cNvSpPr txBox="1"/>
          <p:nvPr/>
        </p:nvSpPr>
        <p:spPr>
          <a:xfrm>
            <a:off x="5559552" y="3337560"/>
            <a:ext cx="1417320" cy="228600"/>
          </a:xfrm>
          <a:prstGeom prst="rect">
            <a:avLst/>
          </a:prstGeom>
          <a:noFill/>
          <a:ln/>
        </p:spPr>
        <p:txBody>
          <a:bodyPr wrap="square" lIns="0" tIns="0" rIns="0" bIns="0" rtlCol="0" anchor="t"/>
          <a:lstStyle/>
          <a:p>
            <a:pPr marL="0" indent="0" algn="ctr">
              <a:buNone/>
            </a:pPr>
            <a:r>
              <a:rPr lang="en-US" sz="1100" dirty="0">
                <a:solidFill>
                  <a:schemeClr val="accent6"/>
                </a:solidFill>
              </a:rPr>
              <a:t>algo1 / algo2 / algo3</a:t>
            </a:r>
            <a:endParaRPr lang="en-US" sz="1100" dirty="0"/>
          </a:p>
        </p:txBody>
      </p:sp>
      <p:sp>
        <p:nvSpPr>
          <p:cNvPr id="26" name="arrow_193"/>
          <p:cNvSpPr/>
          <p:nvPr/>
        </p:nvSpPr>
        <p:spPr>
          <a:xfrm>
            <a:off x="6976872" y="2194560"/>
            <a:ext cx="256032" cy="237744"/>
          </a:xfrm>
          <a:prstGeom prst="rightArrow">
            <a:avLst/>
          </a:prstGeom>
          <a:solidFill>
            <a:srgbClr val="6B7689"/>
          </a:solidFill>
          <a:ln w="12700">
            <a:solidFill>
              <a:srgbClr val="6B7689"/>
            </a:solidFill>
            <a:prstDash val="solid"/>
          </a:ln>
        </p:spPr>
      </p:sp>
      <p:sp>
        <p:nvSpPr>
          <p:cNvPr id="27" name="card_194"/>
          <p:cNvSpPr/>
          <p:nvPr/>
        </p:nvSpPr>
        <p:spPr>
          <a:xfrm>
            <a:off x="7260336" y="1280160"/>
            <a:ext cx="1417320" cy="2011680"/>
          </a:xfrm>
          <a:prstGeom prst="roundRect">
            <a:avLst>
              <a:gd name="adj" fmla="val 6452"/>
            </a:avLst>
          </a:prstGeom>
          <a:solidFill>
            <a:schemeClr val="bg2"/>
          </a:solidFill>
          <a:ln w="12700">
            <a:solidFill>
              <a:schemeClr val="bg2"/>
            </a:solidFill>
            <a:prstDash val="solid"/>
          </a:ln>
        </p:spPr>
      </p:sp>
      <p:sp>
        <p:nvSpPr>
          <p:cNvPr id="28" name="dot_195"/>
          <p:cNvSpPr/>
          <p:nvPr/>
        </p:nvSpPr>
        <p:spPr>
          <a:xfrm>
            <a:off x="7370064" y="1417320"/>
            <a:ext cx="274320" cy="274320"/>
          </a:xfrm>
          <a:prstGeom prst="ellipse">
            <a:avLst/>
          </a:prstGeom>
          <a:solidFill>
            <a:srgbClr val="E59A1F"/>
          </a:solidFill>
          <a:ln w="12700">
            <a:solidFill>
              <a:srgbClr val="E59A1F"/>
            </a:solidFill>
            <a:prstDash val="solid"/>
          </a:ln>
        </p:spPr>
      </p:sp>
      <p:sp>
        <p:nvSpPr>
          <p:cNvPr id="29" name="text_196"/>
          <p:cNvSpPr txBox="1"/>
          <p:nvPr/>
        </p:nvSpPr>
        <p:spPr>
          <a:xfrm>
            <a:off x="7370064" y="1783080"/>
            <a:ext cx="1234440" cy="320040"/>
          </a:xfrm>
          <a:prstGeom prst="rect">
            <a:avLst/>
          </a:prstGeom>
          <a:noFill/>
          <a:ln/>
        </p:spPr>
        <p:txBody>
          <a:bodyPr wrap="square" lIns="0" tIns="0" rIns="0" bIns="0" rtlCol="0" anchor="t"/>
          <a:lstStyle/>
          <a:p>
            <a:pPr marL="0" indent="0">
              <a:buNone/>
            </a:pPr>
            <a:r>
              <a:rPr lang="en-US" sz="1500" b="1" dirty="0">
                <a:solidFill>
                  <a:schemeClr val="tx2"/>
                </a:solidFill>
              </a:rPr>
              <a:t>Output</a:t>
            </a:r>
            <a:endParaRPr lang="en-US" sz="1500" dirty="0"/>
          </a:p>
        </p:txBody>
      </p:sp>
      <p:sp>
        <p:nvSpPr>
          <p:cNvPr id="30" name="text_197"/>
          <p:cNvSpPr txBox="1"/>
          <p:nvPr/>
        </p:nvSpPr>
        <p:spPr>
          <a:xfrm>
            <a:off x="7370064" y="2148840"/>
            <a:ext cx="1234440" cy="1097280"/>
          </a:xfrm>
          <a:prstGeom prst="rect">
            <a:avLst/>
          </a:prstGeom>
          <a:noFill/>
          <a:ln/>
        </p:spPr>
        <p:txBody>
          <a:bodyPr wrap="square" lIns="0" tIns="0" rIns="0" bIns="0" rtlCol="0" anchor="t"/>
          <a:lstStyle/>
          <a:p>
            <a:pPr marL="0" indent="0">
              <a:buNone/>
            </a:pPr>
            <a:r>
              <a:rPr lang="en-US" sz="1300" dirty="0">
                <a:solidFill>
                  <a:schemeClr val="tx1"/>
                </a:solidFill>
              </a:rPr>
              <a:t>Clash check and timetable</a:t>
            </a:r>
            <a:endParaRPr lang="en-US" sz="1300" dirty="0"/>
          </a:p>
        </p:txBody>
      </p:sp>
      <p:sp>
        <p:nvSpPr>
          <p:cNvPr id="31" name="text_198"/>
          <p:cNvSpPr txBox="1"/>
          <p:nvPr/>
        </p:nvSpPr>
        <p:spPr>
          <a:xfrm>
            <a:off x="7260336" y="3337560"/>
            <a:ext cx="1417320" cy="228600"/>
          </a:xfrm>
          <a:prstGeom prst="rect">
            <a:avLst/>
          </a:prstGeom>
          <a:noFill/>
          <a:ln/>
        </p:spPr>
        <p:txBody>
          <a:bodyPr wrap="square" lIns="0" tIns="0" rIns="0" bIns="0" rtlCol="0" anchor="t"/>
          <a:lstStyle/>
          <a:p>
            <a:pPr marL="0" indent="0" algn="ctr">
              <a:buNone/>
            </a:pPr>
            <a:r>
              <a:rPr lang="en-US" sz="1100" dirty="0">
                <a:solidFill>
                  <a:schemeClr val="accent6"/>
                </a:solidFill>
              </a:rPr>
              <a:t>checker.py, show.py</a:t>
            </a:r>
            <a:endParaRPr lang="en-US" sz="1100" dirty="0"/>
          </a:p>
        </p:txBody>
      </p:sp>
      <p:sp>
        <p:nvSpPr>
          <p:cNvPr id="32" name="card_199"/>
          <p:cNvSpPr/>
          <p:nvPr/>
        </p:nvSpPr>
        <p:spPr>
          <a:xfrm>
            <a:off x="457200" y="3794760"/>
            <a:ext cx="8229600" cy="822960"/>
          </a:xfrm>
          <a:prstGeom prst="roundRect">
            <a:avLst>
              <a:gd name="adj" fmla="val 11111"/>
            </a:avLst>
          </a:prstGeom>
          <a:solidFill>
            <a:schemeClr val="bg2"/>
          </a:solidFill>
          <a:ln w="12700">
            <a:solidFill>
              <a:schemeClr val="bg2"/>
            </a:solidFill>
            <a:prstDash val="solid"/>
          </a:ln>
        </p:spPr>
      </p:sp>
      <p:sp>
        <p:nvSpPr>
          <p:cNvPr id="33" name="text_200"/>
          <p:cNvSpPr txBox="1"/>
          <p:nvPr/>
        </p:nvSpPr>
        <p:spPr>
          <a:xfrm>
            <a:off x="685800" y="3794760"/>
            <a:ext cx="7772400" cy="822960"/>
          </a:xfrm>
          <a:prstGeom prst="rect">
            <a:avLst/>
          </a:prstGeom>
          <a:noFill/>
          <a:ln/>
        </p:spPr>
        <p:txBody>
          <a:bodyPr wrap="square" lIns="0" tIns="0" rIns="0" bIns="0" rtlCol="0" anchor="ctr"/>
          <a:lstStyle/>
          <a:p>
            <a:pPr marL="0" indent="0">
              <a:buNone/>
            </a:pPr>
            <a:r>
              <a:rPr lang="en-US" sz="1400" b="1" dirty="0">
                <a:solidFill>
                  <a:schemeClr val="tx2"/>
                </a:solidFill>
              </a:rPr>
              <a:t>Test module (compare.py): </a:t>
            </a:r>
            <a:r>
              <a:rPr lang="en-US" sz="1400" dirty="0">
                <a:solidFill>
                  <a:schemeClr val="tx1"/>
                </a:solidFill>
              </a:rPr>
              <a:t>runs all 3 algorithms on 10 to 100 classes and prints time and slots.</a:t>
            </a:r>
            <a:endParaRPr lang="en-US" sz="1400" dirty="0"/>
          </a:p>
        </p:txBody>
      </p:sp>
      <p:sp>
        <p:nvSpPr>
          <p:cNvPr id="3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Implementation</a:t>
            </a:r>
            <a:endParaRPr lang="en-US" sz="3600" dirty="0"/>
          </a:p>
        </p:txBody>
      </p:sp>
      <p:sp>
        <p:nvSpPr>
          <p:cNvPr id="3" name="card_201"/>
          <p:cNvSpPr/>
          <p:nvPr/>
        </p:nvSpPr>
        <p:spPr>
          <a:xfrm>
            <a:off x="457200" y="1188720"/>
            <a:ext cx="2624328" cy="3474720"/>
          </a:xfrm>
          <a:prstGeom prst="roundRect">
            <a:avLst>
              <a:gd name="adj" fmla="val 3484"/>
            </a:avLst>
          </a:prstGeom>
          <a:solidFill>
            <a:schemeClr val="bg2"/>
          </a:solidFill>
          <a:ln w="12700">
            <a:solidFill>
              <a:schemeClr val="bg2"/>
            </a:solidFill>
            <a:prstDash val="solid"/>
          </a:ln>
        </p:spPr>
      </p:sp>
      <p:sp>
        <p:nvSpPr>
          <p:cNvPr id="4" name="iconcircle_202"/>
          <p:cNvSpPr/>
          <p:nvPr/>
        </p:nvSpPr>
        <p:spPr>
          <a:xfrm>
            <a:off x="685800" y="1417320"/>
            <a:ext cx="594360" cy="594360"/>
          </a:xfrm>
          <a:prstGeom prst="ellipse">
            <a:avLst/>
          </a:prstGeom>
          <a:solidFill>
            <a:srgbClr val="0B7F8B"/>
          </a:solidFill>
          <a:ln w="12700">
            <a:solidFill>
              <a:srgbClr val="0B7F8B"/>
            </a:solidFill>
            <a:prstDash val="solid"/>
          </a:ln>
        </p:spPr>
      </p:sp>
      <p:pic>
        <p:nvPicPr>
          <p:cNvPr id="5" name="icon_203" descr="preencoded.png"/>
          <p:cNvPicPr>
            <a:picLocks noChangeAspect="1"/>
          </p:cNvPicPr>
          <p:nvPr/>
        </p:nvPicPr>
        <p:blipFill>
          <a:blip r:embed="rId3"/>
          <a:stretch>
            <a:fillRect/>
          </a:stretch>
        </p:blipFill>
        <p:spPr>
          <a:xfrm>
            <a:off x="816559" y="1548079"/>
            <a:ext cx="332842" cy="332842"/>
          </a:xfrm>
          <a:prstGeom prst="rect">
            <a:avLst/>
          </a:prstGeom>
        </p:spPr>
      </p:pic>
      <p:sp>
        <p:nvSpPr>
          <p:cNvPr id="6" name="text_204"/>
          <p:cNvSpPr txBox="1"/>
          <p:nvPr/>
        </p:nvSpPr>
        <p:spPr>
          <a:xfrm>
            <a:off x="685800" y="2148840"/>
            <a:ext cx="2167128" cy="365760"/>
          </a:xfrm>
          <a:prstGeom prst="rect">
            <a:avLst/>
          </a:prstGeom>
          <a:noFill/>
          <a:ln/>
        </p:spPr>
        <p:txBody>
          <a:bodyPr wrap="square" lIns="0" tIns="0" rIns="0" bIns="0" rtlCol="0" anchor="t"/>
          <a:lstStyle/>
          <a:p>
            <a:pPr marL="0" indent="0">
              <a:buNone/>
            </a:pPr>
            <a:r>
              <a:rPr lang="en-US" sz="1800" b="1" dirty="0">
                <a:solidFill>
                  <a:schemeClr val="tx2"/>
                </a:solidFill>
              </a:rPr>
              <a:t>Language &amp; tools</a:t>
            </a:r>
            <a:endParaRPr lang="en-US" sz="1800" dirty="0"/>
          </a:p>
        </p:txBody>
      </p:sp>
      <p:sp>
        <p:nvSpPr>
          <p:cNvPr id="7" name="text_205"/>
          <p:cNvSpPr txBox="1"/>
          <p:nvPr/>
        </p:nvSpPr>
        <p:spPr>
          <a:xfrm>
            <a:off x="685800" y="2606040"/>
            <a:ext cx="2167128"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Python 3.12</a:t>
            </a:r>
            <a:endParaRPr lang="en-US" sz="1400" dirty="0"/>
          </a:p>
          <a:p>
            <a:pPr marL="342900" indent="-342900">
              <a:spcAft>
                <a:spcPts val="500"/>
              </a:spcAft>
              <a:buSzPct val="100000"/>
              <a:buChar char="•"/>
            </a:pPr>
            <a:r>
              <a:rPr lang="en-US" sz="1400" dirty="0">
                <a:solidFill>
                  <a:schemeClr val="tx1"/>
                </a:solidFill>
              </a:rPr>
              <a:t>tkinter (GUI window)</a:t>
            </a:r>
            <a:endParaRPr lang="en-US" sz="1400" dirty="0"/>
          </a:p>
          <a:p>
            <a:pPr marL="342900" indent="-342900">
              <a:spcAft>
                <a:spcPts val="500"/>
              </a:spcAft>
              <a:buSzPct val="100000"/>
              <a:buChar char="•"/>
            </a:pPr>
            <a:r>
              <a:rPr lang="en-US" sz="1400" dirty="0">
                <a:solidFill>
                  <a:schemeClr val="tx1"/>
                </a:solidFill>
              </a:rPr>
              <a:t>HTML + JavaScript (explainer page)</a:t>
            </a:r>
            <a:endParaRPr lang="en-US" sz="1400" dirty="0"/>
          </a:p>
          <a:p>
            <a:pPr marL="342900" indent="-342900">
              <a:spcAft>
                <a:spcPts val="500"/>
              </a:spcAft>
              <a:buSzPct val="100000"/>
              <a:buChar char="•"/>
            </a:pPr>
            <a:r>
              <a:rPr lang="en-US" sz="1400" dirty="0">
                <a:solidFill>
                  <a:schemeClr val="tx1"/>
                </a:solidFill>
              </a:rPr>
              <a:t>Matplotlib (optional chart)</a:t>
            </a:r>
            <a:endParaRPr lang="en-US" sz="1400" dirty="0"/>
          </a:p>
          <a:p>
            <a:pPr marL="342900" indent="-342900">
              <a:spcAft>
                <a:spcPts val="500"/>
              </a:spcAft>
              <a:buSzPct val="100000"/>
              <a:buChar char="•"/>
            </a:pPr>
            <a:r>
              <a:rPr lang="en-US" sz="1400" dirty="0">
                <a:solidFill>
                  <a:schemeClr val="tx1"/>
                </a:solidFill>
              </a:rPr>
              <a:t>Plain lists and dictionaries</a:t>
            </a:r>
            <a:endParaRPr lang="en-US" sz="1400" dirty="0"/>
          </a:p>
        </p:txBody>
      </p:sp>
      <p:sp>
        <p:nvSpPr>
          <p:cNvPr id="8" name="card_206"/>
          <p:cNvSpPr/>
          <p:nvPr/>
        </p:nvSpPr>
        <p:spPr>
          <a:xfrm>
            <a:off x="3264408" y="1188720"/>
            <a:ext cx="2624328" cy="3474720"/>
          </a:xfrm>
          <a:prstGeom prst="roundRect">
            <a:avLst>
              <a:gd name="adj" fmla="val 3484"/>
            </a:avLst>
          </a:prstGeom>
          <a:solidFill>
            <a:schemeClr val="bg2"/>
          </a:solidFill>
          <a:ln w="12700">
            <a:solidFill>
              <a:schemeClr val="bg2"/>
            </a:solidFill>
            <a:prstDash val="solid"/>
          </a:ln>
        </p:spPr>
      </p:sp>
      <p:sp>
        <p:nvSpPr>
          <p:cNvPr id="9" name="iconcircle_207"/>
          <p:cNvSpPr/>
          <p:nvPr/>
        </p:nvSpPr>
        <p:spPr>
          <a:xfrm>
            <a:off x="3493008" y="1417320"/>
            <a:ext cx="594360" cy="594360"/>
          </a:xfrm>
          <a:prstGeom prst="ellipse">
            <a:avLst/>
          </a:prstGeom>
          <a:solidFill>
            <a:srgbClr val="6B5CE7"/>
          </a:solidFill>
          <a:ln w="12700">
            <a:solidFill>
              <a:srgbClr val="6B5CE7"/>
            </a:solidFill>
            <a:prstDash val="solid"/>
          </a:ln>
        </p:spPr>
      </p:sp>
      <p:pic>
        <p:nvPicPr>
          <p:cNvPr id="10" name="icon_208" descr="preencoded.png"/>
          <p:cNvPicPr>
            <a:picLocks noChangeAspect="1"/>
          </p:cNvPicPr>
          <p:nvPr/>
        </p:nvPicPr>
        <p:blipFill>
          <a:blip r:embed="rId4"/>
          <a:stretch>
            <a:fillRect/>
          </a:stretch>
        </p:blipFill>
        <p:spPr>
          <a:xfrm>
            <a:off x="3623767" y="1548079"/>
            <a:ext cx="332842" cy="332842"/>
          </a:xfrm>
          <a:prstGeom prst="rect">
            <a:avLst/>
          </a:prstGeom>
        </p:spPr>
      </p:pic>
      <p:sp>
        <p:nvSpPr>
          <p:cNvPr id="11" name="text_209"/>
          <p:cNvSpPr txBox="1"/>
          <p:nvPr/>
        </p:nvSpPr>
        <p:spPr>
          <a:xfrm>
            <a:off x="3493008" y="2148840"/>
            <a:ext cx="2167128" cy="365760"/>
          </a:xfrm>
          <a:prstGeom prst="rect">
            <a:avLst/>
          </a:prstGeom>
          <a:noFill/>
          <a:ln/>
        </p:spPr>
        <p:txBody>
          <a:bodyPr wrap="square" lIns="0" tIns="0" rIns="0" bIns="0" rtlCol="0" anchor="t"/>
          <a:lstStyle/>
          <a:p>
            <a:pPr marL="0" indent="0">
              <a:buNone/>
            </a:pPr>
            <a:r>
              <a:rPr lang="en-US" sz="1800" b="1" dirty="0">
                <a:solidFill>
                  <a:schemeClr val="tx2"/>
                </a:solidFill>
              </a:rPr>
              <a:t>Important modules</a:t>
            </a:r>
            <a:endParaRPr lang="en-US" sz="1800" dirty="0"/>
          </a:p>
        </p:txBody>
      </p:sp>
      <p:sp>
        <p:nvSpPr>
          <p:cNvPr id="12" name="text_210"/>
          <p:cNvSpPr txBox="1"/>
          <p:nvPr/>
        </p:nvSpPr>
        <p:spPr>
          <a:xfrm>
            <a:off x="3493008" y="2606040"/>
            <a:ext cx="2167128"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algo1 / algo2 / algo3: the algorithms</a:t>
            </a:r>
            <a:endParaRPr lang="en-US" sz="1400" dirty="0"/>
          </a:p>
          <a:p>
            <a:pPr marL="342900" indent="-342900">
              <a:spcAft>
                <a:spcPts val="500"/>
              </a:spcAft>
              <a:buSzPct val="100000"/>
              <a:buChar char="•"/>
            </a:pPr>
            <a:r>
              <a:rPr lang="en-US" sz="1400" dirty="0">
                <a:solidFill>
                  <a:schemeClr val="tx1"/>
                </a:solidFill>
              </a:rPr>
              <a:t>conflict_graph.py: dots and lines</a:t>
            </a:r>
            <a:endParaRPr lang="en-US" sz="1400" dirty="0"/>
          </a:p>
          <a:p>
            <a:pPr marL="342900" indent="-342900">
              <a:spcAft>
                <a:spcPts val="500"/>
              </a:spcAft>
              <a:buSzPct val="100000"/>
              <a:buChar char="•"/>
            </a:pPr>
            <a:r>
              <a:rPr lang="en-US" sz="1400" dirty="0">
                <a:solidFill>
                  <a:schemeClr val="tx1"/>
                </a:solidFill>
              </a:rPr>
              <a:t>rules.py: is this slot safe?</a:t>
            </a:r>
            <a:endParaRPr lang="en-US" sz="1400" dirty="0"/>
          </a:p>
          <a:p>
            <a:pPr marL="342900" indent="-342900">
              <a:spcAft>
                <a:spcPts val="500"/>
              </a:spcAft>
              <a:buSzPct val="100000"/>
              <a:buChar char="•"/>
            </a:pPr>
            <a:r>
              <a:rPr lang="en-US" sz="1400" dirty="0">
                <a:solidFill>
                  <a:schemeClr val="tx1"/>
                </a:solidFill>
              </a:rPr>
              <a:t>checker.py: proves 0 clashes</a:t>
            </a:r>
            <a:endParaRPr lang="en-US" sz="1400" dirty="0"/>
          </a:p>
        </p:txBody>
      </p:sp>
      <p:sp>
        <p:nvSpPr>
          <p:cNvPr id="13" name="card_211"/>
          <p:cNvSpPr/>
          <p:nvPr/>
        </p:nvSpPr>
        <p:spPr>
          <a:xfrm>
            <a:off x="6071616" y="1188720"/>
            <a:ext cx="2624328" cy="3474720"/>
          </a:xfrm>
          <a:prstGeom prst="roundRect">
            <a:avLst>
              <a:gd name="adj" fmla="val 3484"/>
            </a:avLst>
          </a:prstGeom>
          <a:solidFill>
            <a:schemeClr val="bg2"/>
          </a:solidFill>
          <a:ln w="12700">
            <a:solidFill>
              <a:schemeClr val="bg2"/>
            </a:solidFill>
            <a:prstDash val="solid"/>
          </a:ln>
        </p:spPr>
      </p:sp>
      <p:sp>
        <p:nvSpPr>
          <p:cNvPr id="14" name="iconcircle_212"/>
          <p:cNvSpPr/>
          <p:nvPr/>
        </p:nvSpPr>
        <p:spPr>
          <a:xfrm>
            <a:off x="6300216" y="1417320"/>
            <a:ext cx="594360" cy="594360"/>
          </a:xfrm>
          <a:prstGeom prst="ellipse">
            <a:avLst/>
          </a:prstGeom>
          <a:solidFill>
            <a:srgbClr val="D9482B"/>
          </a:solidFill>
          <a:ln w="12700">
            <a:solidFill>
              <a:srgbClr val="D9482B"/>
            </a:solidFill>
            <a:prstDash val="solid"/>
          </a:ln>
        </p:spPr>
      </p:sp>
      <p:pic>
        <p:nvPicPr>
          <p:cNvPr id="15" name="icon_213" descr="preencoded.png"/>
          <p:cNvPicPr>
            <a:picLocks noChangeAspect="1"/>
          </p:cNvPicPr>
          <p:nvPr/>
        </p:nvPicPr>
        <p:blipFill>
          <a:blip r:embed="rId5"/>
          <a:stretch>
            <a:fillRect/>
          </a:stretch>
        </p:blipFill>
        <p:spPr>
          <a:xfrm>
            <a:off x="6430975" y="1548079"/>
            <a:ext cx="332842" cy="332842"/>
          </a:xfrm>
          <a:prstGeom prst="rect">
            <a:avLst/>
          </a:prstGeom>
        </p:spPr>
      </p:pic>
      <p:sp>
        <p:nvSpPr>
          <p:cNvPr id="16" name="text_214"/>
          <p:cNvSpPr txBox="1"/>
          <p:nvPr/>
        </p:nvSpPr>
        <p:spPr>
          <a:xfrm>
            <a:off x="6300216" y="2148840"/>
            <a:ext cx="2167128" cy="365760"/>
          </a:xfrm>
          <a:prstGeom prst="rect">
            <a:avLst/>
          </a:prstGeom>
          <a:noFill/>
          <a:ln/>
        </p:spPr>
        <p:txBody>
          <a:bodyPr wrap="square" lIns="0" tIns="0" rIns="0" bIns="0" rtlCol="0" anchor="t"/>
          <a:lstStyle/>
          <a:p>
            <a:pPr marL="0" indent="0">
              <a:buNone/>
            </a:pPr>
            <a:r>
              <a:rPr lang="en-US" sz="1800" b="1" dirty="0">
                <a:solidFill>
                  <a:schemeClr val="tx2"/>
                </a:solidFill>
              </a:rPr>
              <a:t>Data structures</a:t>
            </a:r>
            <a:endParaRPr lang="en-US" sz="1800" dirty="0"/>
          </a:p>
        </p:txBody>
      </p:sp>
      <p:sp>
        <p:nvSpPr>
          <p:cNvPr id="17" name="text_215"/>
          <p:cNvSpPr txBox="1"/>
          <p:nvPr/>
        </p:nvSpPr>
        <p:spPr>
          <a:xfrm>
            <a:off x="6300216" y="2606040"/>
            <a:ext cx="2167128"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Dictionary of lists (graph)</a:t>
            </a:r>
            <a:endParaRPr lang="en-US" sz="1400" dirty="0"/>
          </a:p>
          <a:p>
            <a:pPr marL="342900" indent="-342900">
              <a:spcAft>
                <a:spcPts val="500"/>
              </a:spcAft>
              <a:buSzPct val="100000"/>
              <a:buChar char="•"/>
            </a:pPr>
            <a:r>
              <a:rPr lang="en-US" sz="1400" dirty="0">
                <a:solidFill>
                  <a:schemeClr val="tx1"/>
                </a:solidFill>
              </a:rPr>
              <a:t>Dictionary: lecture to slot</a:t>
            </a:r>
            <a:endParaRPr lang="en-US" sz="1400" dirty="0"/>
          </a:p>
          <a:p>
            <a:pPr marL="342900" indent="-342900">
              <a:spcAft>
                <a:spcPts val="500"/>
              </a:spcAft>
              <a:buSzPct val="100000"/>
              <a:buChar char="•"/>
            </a:pPr>
            <a:r>
              <a:rPr lang="en-US" sz="1400" dirty="0">
                <a:solidFill>
                  <a:schemeClr val="tx1"/>
                </a:solidFill>
              </a:rPr>
              <a:t>Dictionary: slot to count</a:t>
            </a:r>
            <a:endParaRPr lang="en-US" sz="1400" dirty="0"/>
          </a:p>
          <a:p>
            <a:pPr marL="342900" indent="-342900">
              <a:spcAft>
                <a:spcPts val="500"/>
              </a:spcAft>
              <a:buSzPct val="100000"/>
              <a:buChar char="•"/>
            </a:pPr>
            <a:r>
              <a:rPr lang="en-US" sz="1400" dirty="0">
                <a:solidFill>
                  <a:schemeClr val="tx1"/>
                </a:solidFill>
              </a:rPr>
              <a:t>Recursion stack (backtracking)</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Project Screenshots</a:t>
            </a:r>
            <a:endParaRPr lang="en-US" sz="3600" dirty="0"/>
          </a:p>
        </p:txBody>
      </p:sp>
      <p:sp>
        <p:nvSpPr>
          <p:cNvPr id="3" name="shotborder_216"/>
          <p:cNvSpPr/>
          <p:nvPr/>
        </p:nvSpPr>
        <p:spPr>
          <a:xfrm>
            <a:off x="438912" y="1170432"/>
            <a:ext cx="2276856" cy="1417320"/>
          </a:xfrm>
          <a:prstGeom prst="rect">
            <a:avLst/>
          </a:prstGeom>
          <a:solidFill>
            <a:srgbClr val="9AA5B8"/>
          </a:solidFill>
          <a:ln w="12700">
            <a:solidFill>
              <a:srgbClr val="9AA5B8"/>
            </a:solidFill>
            <a:prstDash val="solid"/>
          </a:ln>
        </p:spPr>
      </p:sp>
      <p:sp>
        <p:nvSpPr>
          <p:cNvPr id="5" name="text_218"/>
          <p:cNvSpPr txBox="1"/>
          <p:nvPr/>
        </p:nvSpPr>
        <p:spPr>
          <a:xfrm>
            <a:off x="2880360" y="1234440"/>
            <a:ext cx="1600200" cy="320040"/>
          </a:xfrm>
          <a:prstGeom prst="rect">
            <a:avLst/>
          </a:prstGeom>
          <a:noFill/>
          <a:ln/>
        </p:spPr>
        <p:txBody>
          <a:bodyPr wrap="square" lIns="0" tIns="0" rIns="0" bIns="0" rtlCol="0" anchor="t"/>
          <a:lstStyle/>
          <a:p>
            <a:pPr marL="0" indent="0">
              <a:buNone/>
            </a:pPr>
            <a:r>
              <a:rPr lang="en-US" sz="1600" b="1" dirty="0">
                <a:solidFill>
                  <a:schemeClr val="tx2"/>
                </a:solidFill>
              </a:rPr>
              <a:t>1. Input</a:t>
            </a:r>
            <a:endParaRPr lang="en-US" sz="1600" dirty="0"/>
          </a:p>
        </p:txBody>
      </p:sp>
      <p:sp>
        <p:nvSpPr>
          <p:cNvPr id="6" name="text_219"/>
          <p:cNvSpPr txBox="1"/>
          <p:nvPr/>
        </p:nvSpPr>
        <p:spPr>
          <a:xfrm>
            <a:off x="2880360" y="1600200"/>
            <a:ext cx="1600200" cy="1097280"/>
          </a:xfrm>
          <a:prstGeom prst="rect">
            <a:avLst/>
          </a:prstGeom>
          <a:noFill/>
          <a:ln/>
        </p:spPr>
        <p:txBody>
          <a:bodyPr wrap="square" lIns="0" tIns="0" rIns="0" bIns="0" rtlCol="0" anchor="t"/>
          <a:lstStyle/>
          <a:p>
            <a:pPr marL="0" indent="0">
              <a:buNone/>
            </a:pPr>
            <a:r>
              <a:rPr lang="en-US" sz="1300" dirty="0">
                <a:solidFill>
                  <a:schemeClr val="tx1"/>
                </a:solidFill>
              </a:rPr>
              <a:t>Lectures, teachers and student groups, plus rooms, days and periods</a:t>
            </a:r>
            <a:endParaRPr lang="en-US" sz="1300" dirty="0"/>
          </a:p>
        </p:txBody>
      </p:sp>
      <p:sp>
        <p:nvSpPr>
          <p:cNvPr id="7" name="shotborder_220"/>
          <p:cNvSpPr/>
          <p:nvPr/>
        </p:nvSpPr>
        <p:spPr>
          <a:xfrm>
            <a:off x="4645152" y="1170432"/>
            <a:ext cx="2276856" cy="1417320"/>
          </a:xfrm>
          <a:prstGeom prst="rect">
            <a:avLst/>
          </a:prstGeom>
          <a:solidFill>
            <a:srgbClr val="9AA5B8"/>
          </a:solidFill>
          <a:ln w="12700">
            <a:solidFill>
              <a:srgbClr val="9AA5B8"/>
            </a:solidFill>
            <a:prstDash val="solid"/>
          </a:ln>
        </p:spPr>
      </p:sp>
      <p:sp>
        <p:nvSpPr>
          <p:cNvPr id="9" name="text_222"/>
          <p:cNvSpPr txBox="1"/>
          <p:nvPr/>
        </p:nvSpPr>
        <p:spPr>
          <a:xfrm>
            <a:off x="7086600" y="1234440"/>
            <a:ext cx="1600200" cy="320040"/>
          </a:xfrm>
          <a:prstGeom prst="rect">
            <a:avLst/>
          </a:prstGeom>
          <a:noFill/>
          <a:ln/>
        </p:spPr>
        <p:txBody>
          <a:bodyPr wrap="square" lIns="0" tIns="0" rIns="0" bIns="0" rtlCol="0" anchor="t"/>
          <a:lstStyle/>
          <a:p>
            <a:pPr marL="0" indent="0">
              <a:buNone/>
            </a:pPr>
            <a:r>
              <a:rPr lang="en-US" sz="1600" b="1" dirty="0">
                <a:solidFill>
                  <a:schemeClr val="tx2"/>
                </a:solidFill>
              </a:rPr>
              <a:t>2. Processing</a:t>
            </a:r>
            <a:endParaRPr lang="en-US" sz="1600" dirty="0"/>
          </a:p>
        </p:txBody>
      </p:sp>
      <p:sp>
        <p:nvSpPr>
          <p:cNvPr id="10" name="text_223"/>
          <p:cNvSpPr txBox="1"/>
          <p:nvPr/>
        </p:nvSpPr>
        <p:spPr>
          <a:xfrm>
            <a:off x="7086600" y="1600200"/>
            <a:ext cx="1600200" cy="1097280"/>
          </a:xfrm>
          <a:prstGeom prst="rect">
            <a:avLst/>
          </a:prstGeom>
          <a:noFill/>
          <a:ln/>
        </p:spPr>
        <p:txBody>
          <a:bodyPr wrap="square" lIns="0" tIns="0" rIns="0" bIns="0" rtlCol="0" anchor="t"/>
          <a:lstStyle/>
          <a:p>
            <a:pPr marL="0" indent="0">
              <a:buNone/>
            </a:pPr>
            <a:r>
              <a:rPr lang="en-US" sz="1300" dirty="0">
                <a:solidFill>
                  <a:schemeClr val="tx1"/>
                </a:solidFill>
              </a:rPr>
              <a:t>Greedy running step by step: dots turn colour, rejected slots are explained</a:t>
            </a:r>
            <a:endParaRPr lang="en-US" sz="1300" dirty="0"/>
          </a:p>
        </p:txBody>
      </p:sp>
      <p:sp>
        <p:nvSpPr>
          <p:cNvPr id="11" name="shotborder_224"/>
          <p:cNvSpPr/>
          <p:nvPr/>
        </p:nvSpPr>
        <p:spPr>
          <a:xfrm>
            <a:off x="438912" y="2953512"/>
            <a:ext cx="2276856" cy="1417320"/>
          </a:xfrm>
          <a:prstGeom prst="rect">
            <a:avLst/>
          </a:prstGeom>
          <a:solidFill>
            <a:srgbClr val="9AA5B8"/>
          </a:solidFill>
          <a:ln w="12700">
            <a:solidFill>
              <a:srgbClr val="9AA5B8"/>
            </a:solidFill>
            <a:prstDash val="solid"/>
          </a:ln>
        </p:spPr>
      </p:sp>
      <p:sp>
        <p:nvSpPr>
          <p:cNvPr id="13" name="text_226"/>
          <p:cNvSpPr txBox="1"/>
          <p:nvPr/>
        </p:nvSpPr>
        <p:spPr>
          <a:xfrm>
            <a:off x="2880360" y="3017520"/>
            <a:ext cx="1600200" cy="320040"/>
          </a:xfrm>
          <a:prstGeom prst="rect">
            <a:avLst/>
          </a:prstGeom>
          <a:noFill/>
          <a:ln/>
        </p:spPr>
        <p:txBody>
          <a:bodyPr wrap="square" lIns="0" tIns="0" rIns="0" bIns="0" rtlCol="0" anchor="t"/>
          <a:lstStyle/>
          <a:p>
            <a:pPr marL="0" indent="0">
              <a:buNone/>
            </a:pPr>
            <a:r>
              <a:rPr lang="en-US" sz="1600" b="1" dirty="0">
                <a:solidFill>
                  <a:schemeClr val="tx2"/>
                </a:solidFill>
              </a:rPr>
              <a:t>3. Output</a:t>
            </a:r>
            <a:endParaRPr lang="en-US" sz="1600" dirty="0"/>
          </a:p>
        </p:txBody>
      </p:sp>
      <p:sp>
        <p:nvSpPr>
          <p:cNvPr id="14" name="text_227"/>
          <p:cNvSpPr txBox="1"/>
          <p:nvPr/>
        </p:nvSpPr>
        <p:spPr>
          <a:xfrm>
            <a:off x="2880360" y="3383280"/>
            <a:ext cx="1600200" cy="1097280"/>
          </a:xfrm>
          <a:prstGeom prst="rect">
            <a:avLst/>
          </a:prstGeom>
          <a:noFill/>
          <a:ln/>
        </p:spPr>
        <p:txBody>
          <a:bodyPr wrap="square" lIns="0" tIns="0" rIns="0" bIns="0" rtlCol="0" anchor="t"/>
          <a:lstStyle/>
          <a:p>
            <a:pPr marL="0" indent="0">
              <a:buNone/>
            </a:pPr>
            <a:r>
              <a:rPr lang="en-US" sz="1300" dirty="0">
                <a:solidFill>
                  <a:schemeClr val="tx1"/>
                </a:solidFill>
              </a:rPr>
              <a:t>Weekly timetable of one student group, no overlapping lectures</a:t>
            </a:r>
            <a:endParaRPr lang="en-US" sz="1300" dirty="0"/>
          </a:p>
        </p:txBody>
      </p:sp>
      <p:sp>
        <p:nvSpPr>
          <p:cNvPr id="15" name="shotborder_228"/>
          <p:cNvSpPr/>
          <p:nvPr/>
        </p:nvSpPr>
        <p:spPr>
          <a:xfrm>
            <a:off x="4645152" y="2953512"/>
            <a:ext cx="2276856" cy="1417320"/>
          </a:xfrm>
          <a:prstGeom prst="rect">
            <a:avLst/>
          </a:prstGeom>
          <a:solidFill>
            <a:srgbClr val="9AA5B8"/>
          </a:solidFill>
          <a:ln w="12700">
            <a:solidFill>
              <a:srgbClr val="9AA5B8"/>
            </a:solidFill>
            <a:prstDash val="solid"/>
          </a:ln>
        </p:spPr>
      </p:sp>
      <p:sp>
        <p:nvSpPr>
          <p:cNvPr id="17" name="text_230"/>
          <p:cNvSpPr txBox="1"/>
          <p:nvPr/>
        </p:nvSpPr>
        <p:spPr>
          <a:xfrm>
            <a:off x="7086600" y="3017520"/>
            <a:ext cx="1600200" cy="320040"/>
          </a:xfrm>
          <a:prstGeom prst="rect">
            <a:avLst/>
          </a:prstGeom>
          <a:noFill/>
          <a:ln/>
        </p:spPr>
        <p:txBody>
          <a:bodyPr wrap="square" lIns="0" tIns="0" rIns="0" bIns="0" rtlCol="0" anchor="t"/>
          <a:lstStyle/>
          <a:p>
            <a:pPr marL="0" indent="0">
              <a:buNone/>
            </a:pPr>
            <a:r>
              <a:rPr lang="en-US" sz="1600" b="1" dirty="0">
                <a:solidFill>
                  <a:schemeClr val="tx2"/>
                </a:solidFill>
              </a:rPr>
              <a:t>4. Performance</a:t>
            </a:r>
            <a:endParaRPr lang="en-US" sz="1600" dirty="0"/>
          </a:p>
        </p:txBody>
      </p:sp>
      <p:sp>
        <p:nvSpPr>
          <p:cNvPr id="18" name="text_231"/>
          <p:cNvSpPr txBox="1"/>
          <p:nvPr/>
        </p:nvSpPr>
        <p:spPr>
          <a:xfrm>
            <a:off x="7086600" y="3383280"/>
            <a:ext cx="1600200" cy="1097280"/>
          </a:xfrm>
          <a:prstGeom prst="rect">
            <a:avLst/>
          </a:prstGeom>
          <a:noFill/>
          <a:ln/>
        </p:spPr>
        <p:txBody>
          <a:bodyPr wrap="square" lIns="0" tIns="0" rIns="0" bIns="0" rtlCol="0" anchor="t"/>
          <a:lstStyle/>
          <a:p>
            <a:pPr marL="0" indent="0">
              <a:buNone/>
            </a:pPr>
            <a:r>
              <a:rPr lang="en-US" sz="1300" dirty="0">
                <a:solidFill>
                  <a:schemeClr val="tx1"/>
                </a:solidFill>
              </a:rPr>
              <a:t>All 3 algorithms compared: slots used and time, against the lower bound</a:t>
            </a:r>
            <a:endParaRPr lang="en-US" sz="13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11</a:t>
            </a:fld>
            <a:endParaRPr lang="en-US"/>
          </a:p>
        </p:txBody>
      </p:sp>
      <p:pic>
        <p:nvPicPr>
          <p:cNvPr id="20" name="Picture 19" descr="The image displays a table with two columns, one titled 'Subject' and the other 'Teacher', listing various subjects like DAA, CSE-A, and Maths, alongside their corresponding teachers' names.">
            <a:extLst>
              <a:ext uri="{FF2B5EF4-FFF2-40B4-BE49-F238E27FC236}">
                <a16:creationId xmlns:a16="http://schemas.microsoft.com/office/drawing/2014/main" id="{8098B0CC-9E88-3B4F-0D3C-96AA0C208E9A}"/>
              </a:ext>
            </a:extLst>
          </p:cNvPr>
          <p:cNvPicPr>
            <a:picLocks noChangeAspect="1"/>
          </p:cNvPicPr>
          <p:nvPr/>
        </p:nvPicPr>
        <p:blipFill>
          <a:blip r:embed="rId3"/>
          <a:stretch>
            <a:fillRect/>
          </a:stretch>
        </p:blipFill>
        <p:spPr>
          <a:xfrm>
            <a:off x="457200" y="1188720"/>
            <a:ext cx="2240280" cy="1380744"/>
          </a:xfrm>
          <a:prstGeom prst="rect">
            <a:avLst/>
          </a:prstGeom>
        </p:spPr>
      </p:pic>
      <p:pic>
        <p:nvPicPr>
          <p:cNvPr id="22" name="Picture 21" descr="The diagram appears to be a network or a graph with various numbers and connections, possibly representing a decision tree or a flowchart, but without a visual, it's difficult to provide a detailed description.&#10;&#10;AI-generated content may be incorrect.">
            <a:extLst>
              <a:ext uri="{FF2B5EF4-FFF2-40B4-BE49-F238E27FC236}">
                <a16:creationId xmlns:a16="http://schemas.microsoft.com/office/drawing/2014/main" id="{9F6972E5-F8B3-8A4A-FE50-CB19C9EA638E}"/>
              </a:ext>
            </a:extLst>
          </p:cNvPr>
          <p:cNvPicPr>
            <a:picLocks noChangeAspect="1"/>
          </p:cNvPicPr>
          <p:nvPr/>
        </p:nvPicPr>
        <p:blipFill>
          <a:blip r:embed="rId4"/>
          <a:srcRect l="8021" t="5240" r="5293" b="7724"/>
          <a:stretch>
            <a:fillRect/>
          </a:stretch>
        </p:blipFill>
        <p:spPr>
          <a:xfrm>
            <a:off x="4663440" y="1188720"/>
            <a:ext cx="2240280" cy="1380744"/>
          </a:xfrm>
          <a:prstGeom prst="rect">
            <a:avLst/>
          </a:prstGeom>
        </p:spPr>
      </p:pic>
      <p:pic>
        <p:nvPicPr>
          <p:cNvPr id="24" name="Picture 23" descr="The image is a visual representation of a timetable for a week, detailing the schedule for various subjects and periods in different rooms, organized by color-coded groups.">
            <a:extLst>
              <a:ext uri="{FF2B5EF4-FFF2-40B4-BE49-F238E27FC236}">
                <a16:creationId xmlns:a16="http://schemas.microsoft.com/office/drawing/2014/main" id="{FE4A5ABB-0F47-897D-6227-B40DAA9610F1}"/>
              </a:ext>
            </a:extLst>
          </p:cNvPr>
          <p:cNvPicPr>
            <a:picLocks noChangeAspect="1"/>
          </p:cNvPicPr>
          <p:nvPr/>
        </p:nvPicPr>
        <p:blipFill>
          <a:blip r:embed="rId5"/>
          <a:stretch>
            <a:fillRect/>
          </a:stretch>
        </p:blipFill>
        <p:spPr>
          <a:xfrm>
            <a:off x="457201" y="2971800"/>
            <a:ext cx="2240280" cy="1380744"/>
          </a:xfrm>
          <a:prstGeom prst="rect">
            <a:avLst/>
          </a:prstGeom>
        </p:spPr>
      </p:pic>
      <p:pic>
        <p:nvPicPr>
          <p:cNvPr id="27" name="Picture 26" descr="The image is a comparison table showing three different methods for coloring slots, with their respective number of slots and time taken, indicating that the basic coloring method is the fastest.">
            <a:extLst>
              <a:ext uri="{FF2B5EF4-FFF2-40B4-BE49-F238E27FC236}">
                <a16:creationId xmlns:a16="http://schemas.microsoft.com/office/drawing/2014/main" id="{C5B6DBF4-163C-D558-E4B5-D54C492615C6}"/>
              </a:ext>
            </a:extLst>
          </p:cNvPr>
          <p:cNvPicPr>
            <a:picLocks noChangeAspect="1"/>
          </p:cNvPicPr>
          <p:nvPr/>
        </p:nvPicPr>
        <p:blipFill>
          <a:blip r:embed="rId6"/>
          <a:stretch>
            <a:fillRect/>
          </a:stretch>
        </p:blipFill>
        <p:spPr>
          <a:xfrm>
            <a:off x="4663440" y="2971800"/>
            <a:ext cx="2240280" cy="138074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Results</a:t>
            </a:r>
            <a:endParaRPr lang="en-US" sz="3600" dirty="0"/>
          </a:p>
        </p:txBody>
      </p:sp>
      <p:graphicFrame>
        <p:nvGraphicFramePr>
          <p:cNvPr id="13" name="results_table"/>
          <p:cNvGraphicFramePr>
            <a:graphicFrameLocks noGrp="1"/>
          </p:cNvGraphicFramePr>
          <p:nvPr>
            <p:extLst>
              <p:ext uri="{D42A27DB-BD31-4B8C-83A1-F6EECF244321}">
                <p14:modId xmlns:p14="http://schemas.microsoft.com/office/powerpoint/2010/main" val="1579011935"/>
              </p:ext>
            </p:extLst>
          </p:nvPr>
        </p:nvGraphicFramePr>
        <p:xfrm>
          <a:off x="457200" y="1188720"/>
          <a:ext cx="4114800" cy="1865376"/>
        </p:xfrm>
        <a:graphic>
          <a:graphicData uri="http://schemas.openxmlformats.org/drawingml/2006/table">
            <a:tbl>
              <a:tblPr/>
              <a:tblGrid>
                <a:gridCol w="7772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10896">
                <a:tc>
                  <a:txBody>
                    <a:bodyPr/>
                    <a:lstStyle/>
                    <a:p>
                      <a:pPr marL="0" indent="0" algn="ctr">
                        <a:buNone/>
                      </a:pPr>
                      <a:r>
                        <a:rPr lang="en-US" sz="1300" b="1" dirty="0">
                          <a:solidFill>
                            <a:srgbClr val="FFFFFF"/>
                          </a:solidFill>
                        </a:rPr>
                        <a:t>Classes</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tc>
                  <a:txBody>
                    <a:bodyPr/>
                    <a:lstStyle/>
                    <a:p>
                      <a:pPr marL="0" indent="0" algn="ctr">
                        <a:buNone/>
                      </a:pPr>
                      <a:r>
                        <a:rPr lang="en-US" sz="1300" b="1" dirty="0">
                          <a:solidFill>
                            <a:srgbClr val="FFFFFF"/>
                          </a:solidFill>
                        </a:rPr>
                        <a:t>Colouring</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tc>
                  <a:txBody>
                    <a:bodyPr/>
                    <a:lstStyle/>
                    <a:p>
                      <a:pPr marL="0" indent="0" algn="ctr">
                        <a:buNone/>
                      </a:pPr>
                      <a:r>
                        <a:rPr lang="en-US" sz="1300" b="1" dirty="0">
                          <a:solidFill>
                            <a:srgbClr val="FFFFFF"/>
                          </a:solidFill>
                        </a:rPr>
                        <a:t>Greedy</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tc>
                  <a:txBody>
                    <a:bodyPr/>
                    <a:lstStyle/>
                    <a:p>
                      <a:pPr marL="0" indent="0" algn="ctr">
                        <a:buNone/>
                      </a:pPr>
                      <a:r>
                        <a:rPr lang="en-US" sz="1300" b="1" dirty="0">
                          <a:solidFill>
                            <a:srgbClr val="FFFFFF"/>
                          </a:solidFill>
                        </a:rPr>
                        <a:t>Backtr.</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310896">
                <a:tc>
                  <a:txBody>
                    <a:bodyPr/>
                    <a:lstStyle/>
                    <a:p>
                      <a:pPr marL="0" indent="0" algn="ctr">
                        <a:buNone/>
                      </a:pPr>
                      <a:r>
                        <a:rPr lang="en-US" sz="1300" b="1" dirty="0">
                          <a:solidFill>
                            <a:srgbClr val="2B3445"/>
                          </a:solidFill>
                        </a:rPr>
                        <a:t>10</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dirty="0">
                          <a:solidFill>
                            <a:srgbClr val="2B3445"/>
                          </a:solidFill>
                        </a:rPr>
                        <a:t>7 | 0.04</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dirty="0">
                          <a:solidFill>
                            <a:srgbClr val="2B3445"/>
                          </a:solidFill>
                        </a:rPr>
                        <a:t>7 | 0.06</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dirty="0">
                          <a:solidFill>
                            <a:srgbClr val="2B3445"/>
                          </a:solidFill>
                        </a:rPr>
                        <a:t>7 | 0.07</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extLst>
                  <a:ext uri="{0D108BD9-81ED-4DB2-BD59-A6C34878D82A}">
                    <a16:rowId xmlns:a16="http://schemas.microsoft.com/office/drawing/2014/main" val="10001"/>
                  </a:ext>
                </a:extLst>
              </a:tr>
              <a:tr h="310896">
                <a:tc>
                  <a:txBody>
                    <a:bodyPr/>
                    <a:lstStyle/>
                    <a:p>
                      <a:pPr marL="0" indent="0" algn="ctr">
                        <a:buNone/>
                      </a:pPr>
                      <a:r>
                        <a:rPr lang="en-US" sz="1300" b="1" dirty="0">
                          <a:solidFill>
                            <a:srgbClr val="2B3445"/>
                          </a:solidFill>
                        </a:rPr>
                        <a:t>20</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3445"/>
                          </a:solidFill>
                        </a:rPr>
                        <a:t>8 | 0.07</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3445"/>
                          </a:solidFill>
                        </a:rPr>
                        <a:t>8 | 0.08</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3445"/>
                          </a:solidFill>
                        </a:rPr>
                        <a:t>8 | 0.14</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ctr">
                        <a:buNone/>
                      </a:pPr>
                      <a:r>
                        <a:rPr lang="en-US" sz="1300" b="1" dirty="0">
                          <a:solidFill>
                            <a:srgbClr val="2B3445"/>
                          </a:solidFill>
                        </a:rPr>
                        <a:t>30</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dirty="0">
                          <a:solidFill>
                            <a:srgbClr val="2B3445"/>
                          </a:solidFill>
                        </a:rPr>
                        <a:t>11 | 0.12</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dirty="0">
                          <a:solidFill>
                            <a:srgbClr val="2B3445"/>
                          </a:solidFill>
                        </a:rPr>
                        <a:t>11 | 0.14</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dirty="0">
                          <a:solidFill>
                            <a:srgbClr val="2B3445"/>
                          </a:solidFill>
                        </a:rPr>
                        <a:t>10 | 0.33</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extLst>
                  <a:ext uri="{0D108BD9-81ED-4DB2-BD59-A6C34878D82A}">
                    <a16:rowId xmlns:a16="http://schemas.microsoft.com/office/drawing/2014/main" val="10003"/>
                  </a:ext>
                </a:extLst>
              </a:tr>
              <a:tr h="310896">
                <a:tc>
                  <a:txBody>
                    <a:bodyPr/>
                    <a:lstStyle/>
                    <a:p>
                      <a:pPr marL="0" indent="0" algn="ctr">
                        <a:buNone/>
                      </a:pPr>
                      <a:r>
                        <a:rPr lang="en-US" sz="1300" b="1" dirty="0">
                          <a:solidFill>
                            <a:srgbClr val="2B3445"/>
                          </a:solidFill>
                        </a:rPr>
                        <a:t>50</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3445"/>
                          </a:solidFill>
                        </a:rPr>
                        <a:t>9 | 0.19</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3445"/>
                          </a:solidFill>
                        </a:rPr>
                        <a:t>10 | 0.27</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3445"/>
                          </a:solidFill>
                        </a:rPr>
                        <a:t>9 | 0.35</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ctr">
                        <a:buNone/>
                      </a:pPr>
                      <a:r>
                        <a:rPr lang="en-US" sz="1300" b="1" dirty="0">
                          <a:solidFill>
                            <a:srgbClr val="2B3445"/>
                          </a:solidFill>
                        </a:rPr>
                        <a:t>100</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dirty="0">
                          <a:solidFill>
                            <a:srgbClr val="2B3445"/>
                          </a:solidFill>
                        </a:rPr>
                        <a:t>10 | 0.40</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dirty="0">
                          <a:solidFill>
                            <a:srgbClr val="2B3445"/>
                          </a:solidFill>
                        </a:rPr>
                        <a:t>10 | 0.55</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300" b="1" dirty="0">
                          <a:solidFill>
                            <a:srgbClr val="D9482B"/>
                          </a:solidFill>
                        </a:rPr>
                        <a:t>gave up</a:t>
                      </a:r>
                      <a:endParaRPr lang="en-US" sz="13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extLst>
                  <a:ext uri="{0D108BD9-81ED-4DB2-BD59-A6C34878D82A}">
                    <a16:rowId xmlns:a16="http://schemas.microsoft.com/office/drawing/2014/main" val="10005"/>
                  </a:ext>
                </a:extLst>
              </a:tr>
            </a:tbl>
          </a:graphicData>
        </a:graphic>
      </p:graphicFrame>
      <p:sp>
        <p:nvSpPr>
          <p:cNvPr id="4" name="text_232"/>
          <p:cNvSpPr txBox="1"/>
          <p:nvPr/>
        </p:nvSpPr>
        <p:spPr>
          <a:xfrm>
            <a:off x="457200" y="3291840"/>
            <a:ext cx="4114800" cy="365760"/>
          </a:xfrm>
          <a:prstGeom prst="rect">
            <a:avLst/>
          </a:prstGeom>
          <a:noFill/>
          <a:ln/>
        </p:spPr>
        <p:txBody>
          <a:bodyPr wrap="square" lIns="0" tIns="0" rIns="0" bIns="0" rtlCol="0" anchor="t"/>
          <a:lstStyle/>
          <a:p>
            <a:pPr marL="0" indent="0">
              <a:buNone/>
            </a:pPr>
            <a:r>
              <a:rPr lang="en-US" sz="1000" dirty="0">
                <a:solidFill>
                  <a:schemeClr val="accent6"/>
                </a:solidFill>
              </a:rPr>
              <a:t>Each cell: slots used | time in ms. Random data, 30 slots, rooms = classes / 8 (at least 3). Backtracking stopped after 200,000 steps at 100 classes.</a:t>
            </a:r>
            <a:endParaRPr lang="en-US" sz="1000" dirty="0"/>
          </a:p>
        </p:txBody>
      </p:sp>
      <p:graphicFrame>
        <p:nvGraphicFramePr>
          <p:cNvPr id="5" name="Chart 0"/>
          <p:cNvGraphicFramePr/>
          <p:nvPr/>
        </p:nvGraphicFramePr>
        <p:xfrm>
          <a:off x="4754880" y="1097280"/>
          <a:ext cx="402336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_233"/>
          <p:cNvSpPr/>
          <p:nvPr/>
        </p:nvSpPr>
        <p:spPr>
          <a:xfrm>
            <a:off x="457200" y="3703320"/>
            <a:ext cx="2624328" cy="1005840"/>
          </a:xfrm>
          <a:prstGeom prst="roundRect">
            <a:avLst>
              <a:gd name="adj" fmla="val 9091"/>
            </a:avLst>
          </a:prstGeom>
          <a:solidFill>
            <a:schemeClr val="bg2"/>
          </a:solidFill>
          <a:ln w="12700">
            <a:solidFill>
              <a:schemeClr val="bg2"/>
            </a:solidFill>
            <a:prstDash val="solid"/>
          </a:ln>
        </p:spPr>
      </p:sp>
      <p:sp>
        <p:nvSpPr>
          <p:cNvPr id="7" name="text_234"/>
          <p:cNvSpPr txBox="1"/>
          <p:nvPr/>
        </p:nvSpPr>
        <p:spPr>
          <a:xfrm>
            <a:off x="594360" y="3776472"/>
            <a:ext cx="2350008" cy="411480"/>
          </a:xfrm>
          <a:prstGeom prst="rect">
            <a:avLst/>
          </a:prstGeom>
          <a:noFill/>
          <a:ln/>
        </p:spPr>
        <p:txBody>
          <a:bodyPr wrap="square" lIns="0" tIns="0" rIns="0" bIns="0" rtlCol="0" anchor="ctr"/>
          <a:lstStyle/>
          <a:p>
            <a:pPr marL="0" indent="0">
              <a:buNone/>
            </a:pPr>
            <a:r>
              <a:rPr lang="en-US" sz="2400" b="1" dirty="0">
                <a:solidFill>
                  <a:srgbClr val="3E8E41"/>
                </a:solidFill>
                <a:latin typeface="Cambria" pitchFamily="34" charset="0"/>
                <a:ea typeface="Cambria" pitchFamily="34" charset="-122"/>
                <a:cs typeface="Cambria" pitchFamily="34" charset="-120"/>
              </a:rPr>
              <a:t>0</a:t>
            </a:r>
            <a:endParaRPr lang="en-US" sz="2400" dirty="0"/>
          </a:p>
        </p:txBody>
      </p:sp>
      <p:sp>
        <p:nvSpPr>
          <p:cNvPr id="8" name="text_235"/>
          <p:cNvSpPr txBox="1"/>
          <p:nvPr/>
        </p:nvSpPr>
        <p:spPr>
          <a:xfrm>
            <a:off x="594360" y="4206240"/>
            <a:ext cx="2350008" cy="457200"/>
          </a:xfrm>
          <a:prstGeom prst="rect">
            <a:avLst/>
          </a:prstGeom>
          <a:noFill/>
          <a:ln/>
        </p:spPr>
        <p:txBody>
          <a:bodyPr wrap="square" lIns="0" tIns="0" rIns="0" bIns="0" rtlCol="0" anchor="t"/>
          <a:lstStyle/>
          <a:p>
            <a:pPr marL="0" indent="0">
              <a:buNone/>
            </a:pPr>
            <a:r>
              <a:rPr lang="en-US" sz="1100" dirty="0">
                <a:solidFill>
                  <a:srgbClr val="2B3445"/>
                </a:solidFill>
              </a:rPr>
              <a:t>clashes in every test run</a:t>
            </a:r>
            <a:endParaRPr lang="en-US" sz="1100" dirty="0"/>
          </a:p>
        </p:txBody>
      </p:sp>
      <p:sp>
        <p:nvSpPr>
          <p:cNvPr id="9" name="card_236"/>
          <p:cNvSpPr/>
          <p:nvPr/>
        </p:nvSpPr>
        <p:spPr>
          <a:xfrm>
            <a:off x="3264408" y="3703320"/>
            <a:ext cx="2624328" cy="1005840"/>
          </a:xfrm>
          <a:prstGeom prst="roundRect">
            <a:avLst>
              <a:gd name="adj" fmla="val 9091"/>
            </a:avLst>
          </a:prstGeom>
          <a:solidFill>
            <a:schemeClr val="bg2"/>
          </a:solidFill>
          <a:ln w="12700">
            <a:solidFill>
              <a:schemeClr val="bg2"/>
            </a:solidFill>
            <a:prstDash val="solid"/>
          </a:ln>
        </p:spPr>
      </p:sp>
      <p:sp>
        <p:nvSpPr>
          <p:cNvPr id="10" name="text_237"/>
          <p:cNvSpPr txBox="1"/>
          <p:nvPr/>
        </p:nvSpPr>
        <p:spPr>
          <a:xfrm>
            <a:off x="3401568" y="3776472"/>
            <a:ext cx="2350008" cy="411480"/>
          </a:xfrm>
          <a:prstGeom prst="rect">
            <a:avLst/>
          </a:prstGeom>
          <a:noFill/>
          <a:ln/>
        </p:spPr>
        <p:txBody>
          <a:bodyPr wrap="square" lIns="0" tIns="0" rIns="0" bIns="0" rtlCol="0" anchor="ctr"/>
          <a:lstStyle/>
          <a:p>
            <a:pPr marL="0" indent="0">
              <a:buNone/>
            </a:pPr>
            <a:r>
              <a:rPr lang="en-US" sz="2400" b="1" dirty="0">
                <a:solidFill>
                  <a:srgbClr val="6B5CE7"/>
                </a:solidFill>
                <a:latin typeface="Cambria" pitchFamily="34" charset="0"/>
                <a:ea typeface="Cambria" pitchFamily="34" charset="-122"/>
                <a:cs typeface="Cambria" pitchFamily="34" charset="-120"/>
              </a:rPr>
              <a:t>7 | 6 | 6</a:t>
            </a:r>
            <a:endParaRPr lang="en-US" sz="2400" dirty="0"/>
          </a:p>
        </p:txBody>
      </p:sp>
      <p:sp>
        <p:nvSpPr>
          <p:cNvPr id="11" name="text_238"/>
          <p:cNvSpPr txBox="1"/>
          <p:nvPr/>
        </p:nvSpPr>
        <p:spPr>
          <a:xfrm>
            <a:off x="3401568" y="4206240"/>
            <a:ext cx="2350008" cy="457200"/>
          </a:xfrm>
          <a:prstGeom prst="rect">
            <a:avLst/>
          </a:prstGeom>
          <a:noFill/>
          <a:ln/>
        </p:spPr>
        <p:txBody>
          <a:bodyPr wrap="square" lIns="0" tIns="0" rIns="0" bIns="0" rtlCol="0" anchor="t"/>
          <a:lstStyle/>
          <a:p>
            <a:pPr marL="0" indent="0">
              <a:buNone/>
            </a:pPr>
            <a:r>
              <a:rPr lang="en-US" sz="1100" dirty="0">
                <a:solidFill>
                  <a:srgbClr val="2B3445"/>
                </a:solidFill>
              </a:rPr>
              <a:t>slots on the 17-lecture sample (colouring | greedy | backtracking), lower bound 6</a:t>
            </a:r>
            <a:endParaRPr lang="en-US" sz="1100" dirty="0"/>
          </a:p>
        </p:txBody>
      </p:sp>
      <p:sp>
        <p:nvSpPr>
          <p:cNvPr id="12" name="card_239"/>
          <p:cNvSpPr/>
          <p:nvPr/>
        </p:nvSpPr>
        <p:spPr>
          <a:xfrm>
            <a:off x="6071616" y="3703320"/>
            <a:ext cx="2624328" cy="1005840"/>
          </a:xfrm>
          <a:prstGeom prst="roundRect">
            <a:avLst>
              <a:gd name="adj" fmla="val 9091"/>
            </a:avLst>
          </a:prstGeom>
          <a:solidFill>
            <a:schemeClr val="bg2"/>
          </a:solidFill>
          <a:ln w="12700">
            <a:solidFill>
              <a:schemeClr val="bg2"/>
            </a:solidFill>
            <a:prstDash val="solid"/>
          </a:ln>
        </p:spPr>
      </p:sp>
      <p:sp>
        <p:nvSpPr>
          <p:cNvPr id="3" name="text_240"/>
          <p:cNvSpPr txBox="1"/>
          <p:nvPr/>
        </p:nvSpPr>
        <p:spPr>
          <a:xfrm>
            <a:off x="6208776" y="3776472"/>
            <a:ext cx="2350008" cy="411480"/>
          </a:xfrm>
          <a:prstGeom prst="rect">
            <a:avLst/>
          </a:prstGeom>
          <a:noFill/>
          <a:ln/>
        </p:spPr>
        <p:txBody>
          <a:bodyPr wrap="square" lIns="0" tIns="0" rIns="0" bIns="0" rtlCol="0" anchor="ctr"/>
          <a:lstStyle/>
          <a:p>
            <a:pPr marL="0" indent="0">
              <a:buNone/>
            </a:pPr>
            <a:r>
              <a:rPr lang="en-US" sz="2400" b="1" dirty="0">
                <a:solidFill>
                  <a:srgbClr val="D9482B"/>
                </a:solidFill>
                <a:latin typeface="Cambria" pitchFamily="34" charset="0"/>
                <a:ea typeface="Cambria" pitchFamily="34" charset="-122"/>
                <a:cs typeface="Cambria" pitchFamily="34" charset="-120"/>
              </a:rPr>
              <a:t>gave up</a:t>
            </a:r>
            <a:endParaRPr lang="en-US" sz="2400" dirty="0"/>
          </a:p>
        </p:txBody>
      </p:sp>
      <p:sp>
        <p:nvSpPr>
          <p:cNvPr id="14" name="text_241"/>
          <p:cNvSpPr txBox="1"/>
          <p:nvPr/>
        </p:nvSpPr>
        <p:spPr>
          <a:xfrm>
            <a:off x="6208776" y="4206240"/>
            <a:ext cx="2350008" cy="457200"/>
          </a:xfrm>
          <a:prstGeom prst="rect">
            <a:avLst/>
          </a:prstGeom>
          <a:noFill/>
          <a:ln/>
        </p:spPr>
        <p:txBody>
          <a:bodyPr wrap="square" lIns="0" tIns="0" rIns="0" bIns="0" rtlCol="0" anchor="t"/>
          <a:lstStyle/>
          <a:p>
            <a:pPr marL="0" indent="0">
              <a:buNone/>
            </a:pPr>
            <a:r>
              <a:rPr lang="en-US" sz="1100" dirty="0">
                <a:solidFill>
                  <a:srgbClr val="2B3445"/>
                </a:solidFill>
              </a:rPr>
              <a:t>backtracking at 100 classes: over 200,000 steps (about 2.4 s)</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Complexity Analysis</a:t>
            </a:r>
            <a:endParaRPr lang="en-US" sz="3600" dirty="0"/>
          </a:p>
        </p:txBody>
      </p:sp>
      <p:graphicFrame>
        <p:nvGraphicFramePr>
          <p:cNvPr id="14" name="complexity_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1536192"/>
        </p:xfrm>
        <a:graphic>
          <a:graphicData uri="http://schemas.openxmlformats.org/drawingml/2006/table">
            <a:tbl>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84048">
                <a:tc>
                  <a:txBody>
                    <a:bodyPr/>
                    <a:lstStyle/>
                    <a:p>
                      <a:pPr marL="0" indent="0" algn="ctr">
                        <a:buNone/>
                      </a:pPr>
                      <a:r>
                        <a:rPr lang="en-US" sz="1400" b="1" dirty="0">
                          <a:solidFill>
                            <a:srgbClr val="FFFFFF"/>
                          </a:solidFill>
                        </a:rPr>
                        <a:t>Algorithm</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tc>
                  <a:txBody>
                    <a:bodyPr/>
                    <a:lstStyle/>
                    <a:p>
                      <a:pPr marL="0" indent="0" algn="ctr">
                        <a:buNone/>
                      </a:pPr>
                      <a:r>
                        <a:rPr lang="en-US" sz="1400" b="1" dirty="0">
                          <a:solidFill>
                            <a:srgbClr val="FFFFFF"/>
                          </a:solidFill>
                        </a:rPr>
                        <a:t>Best case</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tc>
                  <a:txBody>
                    <a:bodyPr/>
                    <a:lstStyle/>
                    <a:p>
                      <a:pPr marL="0" indent="0" algn="ctr">
                        <a:buNone/>
                      </a:pPr>
                      <a:r>
                        <a:rPr lang="en-US" sz="1400" b="1" dirty="0">
                          <a:solidFill>
                            <a:srgbClr val="FFFFFF"/>
                          </a:solidFill>
                        </a:rPr>
                        <a:t>Average</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tc>
                  <a:txBody>
                    <a:bodyPr/>
                    <a:lstStyle/>
                    <a:p>
                      <a:pPr marL="0" indent="0" algn="ctr">
                        <a:buNone/>
                      </a:pPr>
                      <a:r>
                        <a:rPr lang="en-US" sz="1400" b="1" dirty="0">
                          <a:solidFill>
                            <a:srgbClr val="FFFFFF"/>
                          </a:solidFill>
                        </a:rPr>
                        <a:t>Worst case</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tc>
                  <a:txBody>
                    <a:bodyPr/>
                    <a:lstStyle/>
                    <a:p>
                      <a:pPr marL="0" indent="0" algn="ctr">
                        <a:buNone/>
                      </a:pPr>
                      <a:r>
                        <a:rPr lang="en-US" sz="1400" b="1" dirty="0">
                          <a:solidFill>
                            <a:srgbClr val="FFFFFF"/>
                          </a:solidFill>
                        </a:rPr>
                        <a:t>Space</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384048">
                <a:tc>
                  <a:txBody>
                    <a:bodyPr/>
                    <a:lstStyle/>
                    <a:p>
                      <a:pPr marL="0" indent="0" algn="ctr">
                        <a:buNone/>
                      </a:pPr>
                      <a:r>
                        <a:rPr lang="en-US" sz="1400" b="1" dirty="0">
                          <a:solidFill>
                            <a:srgbClr val="2B3445"/>
                          </a:solidFill>
                        </a:rPr>
                        <a:t>Graph colouring</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2B3445"/>
                          </a:solidFill>
                        </a:rPr>
                        <a:t>O(V + E)</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2B3445"/>
                          </a:solidFill>
                        </a:rPr>
                        <a:t>O(V²)</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2B3445"/>
                          </a:solidFill>
                        </a:rPr>
                        <a:t>O(V²)</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2B3445"/>
                          </a:solidFill>
                        </a:rPr>
                        <a:t>O(V + E)</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extLst>
                  <a:ext uri="{0D108BD9-81ED-4DB2-BD59-A6C34878D82A}">
                    <a16:rowId xmlns:a16="http://schemas.microsoft.com/office/drawing/2014/main" val="10001"/>
                  </a:ext>
                </a:extLst>
              </a:tr>
              <a:tr h="384048">
                <a:tc>
                  <a:txBody>
                    <a:bodyPr/>
                    <a:lstStyle/>
                    <a:p>
                      <a:pPr marL="0" indent="0" algn="ctr">
                        <a:buNone/>
                      </a:pPr>
                      <a:r>
                        <a:rPr lang="en-US" sz="1400" b="1" dirty="0">
                          <a:solidFill>
                            <a:srgbClr val="2B3445"/>
                          </a:solidFill>
                        </a:rPr>
                        <a:t>Greedy</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3445"/>
                          </a:solidFill>
                        </a:rPr>
                        <a:t>O(V log V + E)</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3445"/>
                          </a:solidFill>
                        </a:rPr>
                        <a:t>O(V²)</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3445"/>
                          </a:solidFill>
                        </a:rPr>
                        <a:t>O(V²)</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3445"/>
                          </a:solidFill>
                        </a:rPr>
                        <a:t>O(V + E)</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400" b="1" dirty="0">
                          <a:solidFill>
                            <a:srgbClr val="2B3445"/>
                          </a:solidFill>
                        </a:rPr>
                        <a:t>Backtracking</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2B3445"/>
                          </a:solidFill>
                        </a:rPr>
                        <a:t>O(V)</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2B3445"/>
                          </a:solidFill>
                        </a:rPr>
                        <a:t>Exponential</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2B3445"/>
                          </a:solidFill>
                        </a:rPr>
                        <a:t>O(k^V)</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2B3445"/>
                          </a:solidFill>
                        </a:rPr>
                        <a:t>O(V)</a:t>
                      </a:r>
                      <a:endParaRPr lang="en-US" sz="1400" dirty="0"/>
                    </a:p>
                  </a:txBody>
                  <a:tcPr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3F6FB"/>
                    </a:solidFill>
                  </a:tcPr>
                </a:tc>
                <a:extLst>
                  <a:ext uri="{0D108BD9-81ED-4DB2-BD59-A6C34878D82A}">
                    <a16:rowId xmlns:a16="http://schemas.microsoft.com/office/drawing/2014/main" val="10003"/>
                  </a:ext>
                </a:extLst>
              </a:tr>
            </a:tbl>
          </a:graphicData>
        </a:graphic>
      </p:graphicFrame>
      <p:sp>
        <p:nvSpPr>
          <p:cNvPr id="4" name="text_242"/>
          <p:cNvSpPr txBox="1"/>
          <p:nvPr/>
        </p:nvSpPr>
        <p:spPr>
          <a:xfrm>
            <a:off x="457200" y="2788920"/>
            <a:ext cx="8229600" cy="274320"/>
          </a:xfrm>
          <a:prstGeom prst="rect">
            <a:avLst/>
          </a:prstGeom>
          <a:noFill/>
          <a:ln/>
        </p:spPr>
        <p:txBody>
          <a:bodyPr wrap="square" lIns="0" tIns="0" rIns="0" bIns="0" rtlCol="0" anchor="t"/>
          <a:lstStyle/>
          <a:p>
            <a:pPr marL="0" indent="0">
              <a:buNone/>
            </a:pPr>
            <a:r>
              <a:rPr lang="en-US" sz="1100" dirty="0">
                <a:solidFill>
                  <a:schemeClr val="accent6"/>
                </a:solidFill>
              </a:rPr>
              <a:t>V = classes, E = clashes, k = time slots. Backtracking best case: the first try works, so nothing is undone. Space for backtracking = recursion depth.</a:t>
            </a:r>
            <a:endParaRPr lang="en-US" sz="1100" dirty="0"/>
          </a:p>
        </p:txBody>
      </p:sp>
      <p:sp>
        <p:nvSpPr>
          <p:cNvPr id="5" name="text_243"/>
          <p:cNvSpPr txBox="1"/>
          <p:nvPr/>
        </p:nvSpPr>
        <p:spPr>
          <a:xfrm>
            <a:off x="457200" y="3154680"/>
            <a:ext cx="8229600" cy="274320"/>
          </a:xfrm>
          <a:prstGeom prst="rect">
            <a:avLst/>
          </a:prstGeom>
          <a:noFill/>
          <a:ln/>
        </p:spPr>
        <p:txBody>
          <a:bodyPr wrap="square" lIns="0" tIns="0" rIns="0" bIns="0" rtlCol="0" anchor="t"/>
          <a:lstStyle/>
          <a:p>
            <a:pPr marL="0" indent="0">
              <a:buNone/>
            </a:pPr>
            <a:r>
              <a:rPr lang="en-US" sz="1600" b="1" dirty="0">
                <a:solidFill>
                  <a:schemeClr val="tx2"/>
                </a:solidFill>
              </a:rPr>
              <a:t>Theory vs practice</a:t>
            </a:r>
            <a:endParaRPr lang="en-US" sz="1600" dirty="0"/>
          </a:p>
        </p:txBody>
      </p:sp>
      <p:sp>
        <p:nvSpPr>
          <p:cNvPr id="6" name="card_244"/>
          <p:cNvSpPr/>
          <p:nvPr/>
        </p:nvSpPr>
        <p:spPr>
          <a:xfrm>
            <a:off x="457200" y="3520440"/>
            <a:ext cx="2624328" cy="1188720"/>
          </a:xfrm>
          <a:prstGeom prst="roundRect">
            <a:avLst>
              <a:gd name="adj" fmla="val 7692"/>
            </a:avLst>
          </a:prstGeom>
          <a:solidFill>
            <a:schemeClr val="bg2"/>
          </a:solidFill>
          <a:ln w="12700">
            <a:solidFill>
              <a:schemeClr val="bg2"/>
            </a:solidFill>
            <a:prstDash val="solid"/>
          </a:ln>
        </p:spPr>
      </p:sp>
      <p:sp>
        <p:nvSpPr>
          <p:cNvPr id="7" name="dot_245"/>
          <p:cNvSpPr/>
          <p:nvPr/>
        </p:nvSpPr>
        <p:spPr>
          <a:xfrm>
            <a:off x="640080" y="3675888"/>
            <a:ext cx="201168" cy="201168"/>
          </a:xfrm>
          <a:prstGeom prst="ellipse">
            <a:avLst/>
          </a:prstGeom>
          <a:solidFill>
            <a:srgbClr val="0B7F8B"/>
          </a:solidFill>
          <a:ln w="12700">
            <a:solidFill>
              <a:srgbClr val="0B7F8B"/>
            </a:solidFill>
            <a:prstDash val="solid"/>
          </a:ln>
        </p:spPr>
      </p:sp>
      <p:sp>
        <p:nvSpPr>
          <p:cNvPr id="8" name="text_246"/>
          <p:cNvSpPr txBox="1"/>
          <p:nvPr/>
        </p:nvSpPr>
        <p:spPr>
          <a:xfrm>
            <a:off x="960120" y="3611880"/>
            <a:ext cx="1984248" cy="320040"/>
          </a:xfrm>
          <a:prstGeom prst="rect">
            <a:avLst/>
          </a:prstGeom>
          <a:noFill/>
          <a:ln/>
        </p:spPr>
        <p:txBody>
          <a:bodyPr wrap="square" lIns="0" tIns="0" rIns="0" bIns="0" rtlCol="0" anchor="ctr"/>
          <a:lstStyle/>
          <a:p>
            <a:pPr marL="0" indent="0">
              <a:buNone/>
            </a:pPr>
            <a:r>
              <a:rPr lang="en-US" sz="1400" b="1" dirty="0">
                <a:solidFill>
                  <a:schemeClr val="tx2"/>
                </a:solidFill>
              </a:rPr>
              <a:t>Graph colouring</a:t>
            </a:r>
            <a:endParaRPr lang="en-US" sz="1400" dirty="0"/>
          </a:p>
        </p:txBody>
      </p:sp>
      <p:sp>
        <p:nvSpPr>
          <p:cNvPr id="9" name="text_247"/>
          <p:cNvSpPr txBox="1"/>
          <p:nvPr/>
        </p:nvSpPr>
        <p:spPr>
          <a:xfrm>
            <a:off x="640080" y="3977640"/>
            <a:ext cx="2258568" cy="713232"/>
          </a:xfrm>
          <a:prstGeom prst="rect">
            <a:avLst/>
          </a:prstGeom>
          <a:noFill/>
          <a:ln/>
        </p:spPr>
        <p:txBody>
          <a:bodyPr wrap="square" lIns="0" tIns="0" rIns="0" bIns="0" rtlCol="0" anchor="t"/>
          <a:lstStyle/>
          <a:p>
            <a:pPr marL="0" indent="0">
              <a:buNone/>
            </a:pPr>
            <a:r>
              <a:rPr lang="en-US" sz="1200" dirty="0">
                <a:solidFill>
                  <a:schemeClr val="tx1"/>
                </a:solidFill>
              </a:rPr>
              <a:t>Classes x10 (10 to 100) gave time x10 (0.04 to 0.40 ms). Grows gently.</a:t>
            </a:r>
            <a:endParaRPr lang="en-US" sz="1200" dirty="0"/>
          </a:p>
        </p:txBody>
      </p:sp>
      <p:sp>
        <p:nvSpPr>
          <p:cNvPr id="10" name="card_248"/>
          <p:cNvSpPr/>
          <p:nvPr/>
        </p:nvSpPr>
        <p:spPr>
          <a:xfrm>
            <a:off x="3264408" y="3520440"/>
            <a:ext cx="2624328" cy="1188720"/>
          </a:xfrm>
          <a:prstGeom prst="roundRect">
            <a:avLst>
              <a:gd name="adj" fmla="val 7692"/>
            </a:avLst>
          </a:prstGeom>
          <a:solidFill>
            <a:schemeClr val="bg2"/>
          </a:solidFill>
          <a:ln w="12700">
            <a:solidFill>
              <a:schemeClr val="bg2"/>
            </a:solidFill>
            <a:prstDash val="solid"/>
          </a:ln>
        </p:spPr>
      </p:sp>
      <p:sp>
        <p:nvSpPr>
          <p:cNvPr id="11" name="dot_249"/>
          <p:cNvSpPr/>
          <p:nvPr/>
        </p:nvSpPr>
        <p:spPr>
          <a:xfrm>
            <a:off x="3447288" y="3675888"/>
            <a:ext cx="201168" cy="201168"/>
          </a:xfrm>
          <a:prstGeom prst="ellipse">
            <a:avLst/>
          </a:prstGeom>
          <a:solidFill>
            <a:srgbClr val="6B5CE7"/>
          </a:solidFill>
          <a:ln w="12700">
            <a:solidFill>
              <a:srgbClr val="6B5CE7"/>
            </a:solidFill>
            <a:prstDash val="solid"/>
          </a:ln>
        </p:spPr>
      </p:sp>
      <p:sp>
        <p:nvSpPr>
          <p:cNvPr id="12" name="text_250"/>
          <p:cNvSpPr txBox="1"/>
          <p:nvPr/>
        </p:nvSpPr>
        <p:spPr>
          <a:xfrm>
            <a:off x="3767328" y="3611880"/>
            <a:ext cx="1984248" cy="320040"/>
          </a:xfrm>
          <a:prstGeom prst="rect">
            <a:avLst/>
          </a:prstGeom>
          <a:noFill/>
          <a:ln/>
        </p:spPr>
        <p:txBody>
          <a:bodyPr wrap="square" lIns="0" tIns="0" rIns="0" bIns="0" rtlCol="0" anchor="ctr"/>
          <a:lstStyle/>
          <a:p>
            <a:pPr marL="0" indent="0">
              <a:buNone/>
            </a:pPr>
            <a:r>
              <a:rPr lang="en-US" sz="1400" b="1" dirty="0">
                <a:solidFill>
                  <a:schemeClr val="tx2"/>
                </a:solidFill>
              </a:rPr>
              <a:t>Greedy</a:t>
            </a:r>
            <a:endParaRPr lang="en-US" sz="1400" dirty="0"/>
          </a:p>
        </p:txBody>
      </p:sp>
      <p:sp>
        <p:nvSpPr>
          <p:cNvPr id="13" name="text_251"/>
          <p:cNvSpPr txBox="1"/>
          <p:nvPr/>
        </p:nvSpPr>
        <p:spPr>
          <a:xfrm>
            <a:off x="3447288" y="3977640"/>
            <a:ext cx="2258568" cy="713232"/>
          </a:xfrm>
          <a:prstGeom prst="rect">
            <a:avLst/>
          </a:prstGeom>
          <a:noFill/>
          <a:ln/>
        </p:spPr>
        <p:txBody>
          <a:bodyPr wrap="square" lIns="0" tIns="0" rIns="0" bIns="0" rtlCol="0" anchor="t"/>
          <a:lstStyle/>
          <a:p>
            <a:pPr marL="0" indent="0">
              <a:buNone/>
            </a:pPr>
            <a:r>
              <a:rPr lang="en-US" sz="1200" dirty="0">
                <a:solidFill>
                  <a:schemeClr val="tx1"/>
                </a:solidFill>
              </a:rPr>
              <a:t>Classes x10 gave time x9 (0.06 to 0.55 ms). Theory O(V²) allows x100; our graphs are sparse.</a:t>
            </a:r>
            <a:endParaRPr lang="en-US" sz="1200" dirty="0"/>
          </a:p>
        </p:txBody>
      </p:sp>
      <p:sp>
        <p:nvSpPr>
          <p:cNvPr id="3" name="card_252"/>
          <p:cNvSpPr/>
          <p:nvPr/>
        </p:nvSpPr>
        <p:spPr>
          <a:xfrm>
            <a:off x="6071616" y="3520440"/>
            <a:ext cx="2624328" cy="1188720"/>
          </a:xfrm>
          <a:prstGeom prst="roundRect">
            <a:avLst>
              <a:gd name="adj" fmla="val 7692"/>
            </a:avLst>
          </a:prstGeom>
          <a:solidFill>
            <a:schemeClr val="bg2"/>
          </a:solidFill>
          <a:ln w="12700">
            <a:solidFill>
              <a:schemeClr val="bg2"/>
            </a:solidFill>
            <a:prstDash val="solid"/>
          </a:ln>
        </p:spPr>
      </p:sp>
      <p:sp>
        <p:nvSpPr>
          <p:cNvPr id="15" name="dot_253"/>
          <p:cNvSpPr/>
          <p:nvPr/>
        </p:nvSpPr>
        <p:spPr>
          <a:xfrm>
            <a:off x="6254496" y="3675888"/>
            <a:ext cx="201168" cy="201168"/>
          </a:xfrm>
          <a:prstGeom prst="ellipse">
            <a:avLst/>
          </a:prstGeom>
          <a:solidFill>
            <a:srgbClr val="D9482B"/>
          </a:solidFill>
          <a:ln w="12700">
            <a:solidFill>
              <a:srgbClr val="D9482B"/>
            </a:solidFill>
            <a:prstDash val="solid"/>
          </a:ln>
        </p:spPr>
      </p:sp>
      <p:sp>
        <p:nvSpPr>
          <p:cNvPr id="16" name="text_254"/>
          <p:cNvSpPr txBox="1"/>
          <p:nvPr/>
        </p:nvSpPr>
        <p:spPr>
          <a:xfrm>
            <a:off x="6574536" y="3611880"/>
            <a:ext cx="1984248" cy="320040"/>
          </a:xfrm>
          <a:prstGeom prst="rect">
            <a:avLst/>
          </a:prstGeom>
          <a:noFill/>
          <a:ln/>
        </p:spPr>
        <p:txBody>
          <a:bodyPr wrap="square" lIns="0" tIns="0" rIns="0" bIns="0" rtlCol="0" anchor="ctr"/>
          <a:lstStyle/>
          <a:p>
            <a:pPr marL="0" indent="0">
              <a:buNone/>
            </a:pPr>
            <a:r>
              <a:rPr lang="en-US" sz="1400" b="1" dirty="0">
                <a:solidFill>
                  <a:schemeClr val="tx2"/>
                </a:solidFill>
              </a:rPr>
              <a:t>Backtracking</a:t>
            </a:r>
            <a:endParaRPr lang="en-US" sz="1400" dirty="0"/>
          </a:p>
        </p:txBody>
      </p:sp>
      <p:sp>
        <p:nvSpPr>
          <p:cNvPr id="17" name="text_255"/>
          <p:cNvSpPr txBox="1"/>
          <p:nvPr/>
        </p:nvSpPr>
        <p:spPr>
          <a:xfrm>
            <a:off x="6254496" y="3977640"/>
            <a:ext cx="2258568" cy="713232"/>
          </a:xfrm>
          <a:prstGeom prst="rect">
            <a:avLst/>
          </a:prstGeom>
          <a:noFill/>
          <a:ln/>
        </p:spPr>
        <p:txBody>
          <a:bodyPr wrap="square" lIns="0" tIns="0" rIns="0" bIns="0" rtlCol="0" anchor="t"/>
          <a:lstStyle/>
          <a:p>
            <a:pPr marL="0" indent="0">
              <a:buNone/>
            </a:pPr>
            <a:r>
              <a:rPr lang="en-US" sz="1200" dirty="0">
                <a:solidFill>
                  <a:schemeClr val="tx1"/>
                </a:solidFill>
              </a:rPr>
              <a:t>30 to 50 classes: still 0.35 ms or less. At 100 classes: over 200,000 steps, gave up.</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600" b="1" dirty="0">
                <a:solidFill>
                  <a:schemeClr val="tx2"/>
                </a:solidFill>
              </a:rPr>
              <a:t>Pros, Limits &amp; Future Scope</a:t>
            </a:r>
            <a:endParaRPr lang="en-US" sz="3600" dirty="0"/>
          </a:p>
        </p:txBody>
      </p:sp>
      <p:sp>
        <p:nvSpPr>
          <p:cNvPr id="3" name="card_256"/>
          <p:cNvSpPr/>
          <p:nvPr/>
        </p:nvSpPr>
        <p:spPr>
          <a:xfrm>
            <a:off x="457200" y="1188720"/>
            <a:ext cx="2624328" cy="3474720"/>
          </a:xfrm>
          <a:prstGeom prst="roundRect">
            <a:avLst>
              <a:gd name="adj" fmla="val 3484"/>
            </a:avLst>
          </a:prstGeom>
          <a:solidFill>
            <a:schemeClr val="bg2"/>
          </a:solidFill>
          <a:ln w="12700">
            <a:solidFill>
              <a:schemeClr val="bg2"/>
            </a:solidFill>
            <a:prstDash val="solid"/>
          </a:ln>
        </p:spPr>
      </p:sp>
      <p:sp>
        <p:nvSpPr>
          <p:cNvPr id="4" name="iconcircle_257"/>
          <p:cNvSpPr/>
          <p:nvPr/>
        </p:nvSpPr>
        <p:spPr>
          <a:xfrm>
            <a:off x="685800" y="1371600"/>
            <a:ext cx="502920" cy="502920"/>
          </a:xfrm>
          <a:prstGeom prst="ellipse">
            <a:avLst/>
          </a:prstGeom>
          <a:solidFill>
            <a:srgbClr val="3E8E41"/>
          </a:solidFill>
          <a:ln w="12700">
            <a:solidFill>
              <a:srgbClr val="3E8E41"/>
            </a:solidFill>
            <a:prstDash val="solid"/>
          </a:ln>
        </p:spPr>
      </p:sp>
      <p:pic>
        <p:nvPicPr>
          <p:cNvPr id="5" name="icon_258" descr="preencoded.png"/>
          <p:cNvPicPr>
            <a:picLocks noChangeAspect="1"/>
          </p:cNvPicPr>
          <p:nvPr/>
        </p:nvPicPr>
        <p:blipFill>
          <a:blip r:embed="rId3"/>
          <a:stretch>
            <a:fillRect/>
          </a:stretch>
        </p:blipFill>
        <p:spPr>
          <a:xfrm>
            <a:off x="796442" y="1482242"/>
            <a:ext cx="281635" cy="281635"/>
          </a:xfrm>
          <a:prstGeom prst="rect">
            <a:avLst/>
          </a:prstGeom>
        </p:spPr>
      </p:pic>
      <p:sp>
        <p:nvSpPr>
          <p:cNvPr id="6" name="text_259"/>
          <p:cNvSpPr txBox="1"/>
          <p:nvPr/>
        </p:nvSpPr>
        <p:spPr>
          <a:xfrm>
            <a:off x="1325880" y="1371600"/>
            <a:ext cx="1618488" cy="502920"/>
          </a:xfrm>
          <a:prstGeom prst="rect">
            <a:avLst/>
          </a:prstGeom>
          <a:noFill/>
          <a:ln/>
        </p:spPr>
        <p:txBody>
          <a:bodyPr wrap="square" lIns="0" tIns="0" rIns="0" bIns="0" rtlCol="0" anchor="ctr"/>
          <a:lstStyle/>
          <a:p>
            <a:pPr marL="0" indent="0">
              <a:buNone/>
            </a:pPr>
            <a:r>
              <a:rPr lang="en-US" sz="1800" b="1" dirty="0">
                <a:solidFill>
                  <a:schemeClr val="tx2"/>
                </a:solidFill>
              </a:rPr>
              <a:t>Advantages</a:t>
            </a:r>
            <a:endParaRPr lang="en-US" sz="1800" dirty="0"/>
          </a:p>
        </p:txBody>
      </p:sp>
      <p:sp>
        <p:nvSpPr>
          <p:cNvPr id="7" name="text_260"/>
          <p:cNvSpPr txBox="1"/>
          <p:nvPr/>
        </p:nvSpPr>
        <p:spPr>
          <a:xfrm>
            <a:off x="685800" y="2103120"/>
            <a:ext cx="2167128" cy="2468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0 clashes in every test</a:t>
            </a:r>
            <a:endParaRPr lang="en-US" sz="1400" dirty="0"/>
          </a:p>
          <a:p>
            <a:pPr marL="342900" indent="-342900">
              <a:spcAft>
                <a:spcPts val="500"/>
              </a:spcAft>
              <a:buSzPct val="100000"/>
              <a:buChar char="•"/>
            </a:pPr>
            <a:r>
              <a:rPr lang="en-US" sz="1400" dirty="0">
                <a:solidFill>
                  <a:schemeClr val="tx1"/>
                </a:solidFill>
              </a:rPr>
              <a:t>Very fast: 100 classes in under 1 ms (greedy)</a:t>
            </a:r>
            <a:endParaRPr lang="en-US" sz="1400" dirty="0"/>
          </a:p>
          <a:p>
            <a:pPr marL="342900" indent="-342900">
              <a:spcAft>
                <a:spcPts val="500"/>
              </a:spcAft>
              <a:buSzPct val="100000"/>
              <a:buChar char="•"/>
            </a:pPr>
            <a:r>
              <a:rPr lang="en-US" sz="1400" dirty="0">
                <a:solidFill>
                  <a:schemeClr val="tx1"/>
                </a:solidFill>
              </a:rPr>
              <a:t>Backtracking finds the best answer on small inputs</a:t>
            </a:r>
            <a:endParaRPr lang="en-US" sz="1400" dirty="0"/>
          </a:p>
          <a:p>
            <a:pPr marL="342900" indent="-342900">
              <a:spcAft>
                <a:spcPts val="500"/>
              </a:spcAft>
              <a:buSzPct val="100000"/>
              <a:buChar char="•"/>
            </a:pPr>
            <a:r>
              <a:rPr lang="en-US" sz="1400" dirty="0">
                <a:solidFill>
                  <a:schemeClr val="tx1"/>
                </a:solidFill>
              </a:rPr>
              <a:t>Simple code: one file per algorithm</a:t>
            </a:r>
            <a:endParaRPr lang="en-US" sz="1400" dirty="0"/>
          </a:p>
        </p:txBody>
      </p:sp>
      <p:sp>
        <p:nvSpPr>
          <p:cNvPr id="8" name="card_261"/>
          <p:cNvSpPr/>
          <p:nvPr/>
        </p:nvSpPr>
        <p:spPr>
          <a:xfrm>
            <a:off x="3264408" y="1188720"/>
            <a:ext cx="2624328" cy="3474720"/>
          </a:xfrm>
          <a:prstGeom prst="roundRect">
            <a:avLst>
              <a:gd name="adj" fmla="val 3484"/>
            </a:avLst>
          </a:prstGeom>
          <a:solidFill>
            <a:schemeClr val="bg2"/>
          </a:solidFill>
          <a:ln w="12700">
            <a:solidFill>
              <a:schemeClr val="bg2"/>
            </a:solidFill>
            <a:prstDash val="solid"/>
          </a:ln>
        </p:spPr>
      </p:sp>
      <p:sp>
        <p:nvSpPr>
          <p:cNvPr id="9" name="iconcircle_262"/>
          <p:cNvSpPr/>
          <p:nvPr/>
        </p:nvSpPr>
        <p:spPr>
          <a:xfrm>
            <a:off x="3493008" y="1371600"/>
            <a:ext cx="502920" cy="502920"/>
          </a:xfrm>
          <a:prstGeom prst="ellipse">
            <a:avLst/>
          </a:prstGeom>
          <a:solidFill>
            <a:srgbClr val="E59A1F"/>
          </a:solidFill>
          <a:ln w="12700">
            <a:solidFill>
              <a:srgbClr val="E59A1F"/>
            </a:solidFill>
            <a:prstDash val="solid"/>
          </a:ln>
        </p:spPr>
      </p:sp>
      <p:pic>
        <p:nvPicPr>
          <p:cNvPr id="10" name="icon_263" descr="preencoded.png"/>
          <p:cNvPicPr>
            <a:picLocks noChangeAspect="1"/>
          </p:cNvPicPr>
          <p:nvPr/>
        </p:nvPicPr>
        <p:blipFill>
          <a:blip r:embed="rId4"/>
          <a:stretch>
            <a:fillRect/>
          </a:stretch>
        </p:blipFill>
        <p:spPr>
          <a:xfrm>
            <a:off x="3603650" y="1482242"/>
            <a:ext cx="281635" cy="281635"/>
          </a:xfrm>
          <a:prstGeom prst="rect">
            <a:avLst/>
          </a:prstGeom>
        </p:spPr>
      </p:pic>
      <p:sp>
        <p:nvSpPr>
          <p:cNvPr id="11" name="text_264"/>
          <p:cNvSpPr txBox="1"/>
          <p:nvPr/>
        </p:nvSpPr>
        <p:spPr>
          <a:xfrm>
            <a:off x="4133088" y="1371600"/>
            <a:ext cx="1618488" cy="502920"/>
          </a:xfrm>
          <a:prstGeom prst="rect">
            <a:avLst/>
          </a:prstGeom>
          <a:noFill/>
          <a:ln/>
        </p:spPr>
        <p:txBody>
          <a:bodyPr wrap="square" lIns="0" tIns="0" rIns="0" bIns="0" rtlCol="0" anchor="ctr"/>
          <a:lstStyle/>
          <a:p>
            <a:pPr marL="0" indent="0">
              <a:buNone/>
            </a:pPr>
            <a:r>
              <a:rPr lang="en-US" sz="1800" b="1" dirty="0">
                <a:solidFill>
                  <a:schemeClr val="tx2"/>
                </a:solidFill>
              </a:rPr>
              <a:t>Limitations</a:t>
            </a:r>
            <a:endParaRPr lang="en-US" sz="1800" dirty="0"/>
          </a:p>
        </p:txBody>
      </p:sp>
      <p:sp>
        <p:nvSpPr>
          <p:cNvPr id="12" name="text_265"/>
          <p:cNvSpPr txBox="1"/>
          <p:nvPr/>
        </p:nvSpPr>
        <p:spPr>
          <a:xfrm>
            <a:off x="3493008" y="2103120"/>
            <a:ext cx="2167128" cy="2468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Backtracking gives up at 100 classes</a:t>
            </a:r>
            <a:endParaRPr lang="en-US" sz="1400" dirty="0"/>
          </a:p>
          <a:p>
            <a:pPr marL="342900" indent="-342900">
              <a:spcAft>
                <a:spcPts val="500"/>
              </a:spcAft>
              <a:buSzPct val="100000"/>
              <a:buChar char="•"/>
            </a:pPr>
            <a:r>
              <a:rPr lang="en-US" sz="1400" dirty="0">
                <a:solidFill>
                  <a:schemeClr val="tx1"/>
                </a:solidFill>
              </a:rPr>
              <a:t>Rooms are counted, not sized</a:t>
            </a:r>
            <a:endParaRPr lang="en-US" sz="1400" dirty="0"/>
          </a:p>
          <a:p>
            <a:pPr marL="342900" indent="-342900">
              <a:spcAft>
                <a:spcPts val="500"/>
              </a:spcAft>
              <a:buSzPct val="100000"/>
              <a:buChar char="•"/>
            </a:pPr>
            <a:r>
              <a:rPr lang="en-US" sz="1400" dirty="0">
                <a:solidFill>
                  <a:schemeClr val="tx1"/>
                </a:solidFill>
              </a:rPr>
              <a:t>No teacher preferences</a:t>
            </a:r>
            <a:endParaRPr lang="en-US" sz="1400" dirty="0"/>
          </a:p>
          <a:p>
            <a:pPr marL="342900" indent="-342900">
              <a:spcAft>
                <a:spcPts val="500"/>
              </a:spcAft>
              <a:buSzPct val="100000"/>
              <a:buChar char="•"/>
            </a:pPr>
            <a:r>
              <a:rPr lang="en-US" sz="1400" dirty="0">
                <a:solidFill>
                  <a:schemeClr val="tx1"/>
                </a:solidFill>
              </a:rPr>
              <a:t>One period per lecture (no 2-hour labs)</a:t>
            </a:r>
            <a:endParaRPr lang="en-US" sz="1400" dirty="0"/>
          </a:p>
        </p:txBody>
      </p:sp>
      <p:sp>
        <p:nvSpPr>
          <p:cNvPr id="13" name="card_266"/>
          <p:cNvSpPr/>
          <p:nvPr/>
        </p:nvSpPr>
        <p:spPr>
          <a:xfrm>
            <a:off x="6071616" y="1188720"/>
            <a:ext cx="2624328" cy="3474720"/>
          </a:xfrm>
          <a:prstGeom prst="roundRect">
            <a:avLst>
              <a:gd name="adj" fmla="val 3484"/>
            </a:avLst>
          </a:prstGeom>
          <a:solidFill>
            <a:schemeClr val="bg2"/>
          </a:solidFill>
          <a:ln w="12700">
            <a:solidFill>
              <a:schemeClr val="bg2"/>
            </a:solidFill>
            <a:prstDash val="solid"/>
          </a:ln>
        </p:spPr>
      </p:sp>
      <p:sp>
        <p:nvSpPr>
          <p:cNvPr id="14" name="iconcircle_267"/>
          <p:cNvSpPr/>
          <p:nvPr/>
        </p:nvSpPr>
        <p:spPr>
          <a:xfrm>
            <a:off x="6300216" y="1371600"/>
            <a:ext cx="502920" cy="502920"/>
          </a:xfrm>
          <a:prstGeom prst="ellipse">
            <a:avLst/>
          </a:prstGeom>
          <a:solidFill>
            <a:srgbClr val="6B5CE7"/>
          </a:solidFill>
          <a:ln w="12700">
            <a:solidFill>
              <a:srgbClr val="6B5CE7"/>
            </a:solidFill>
            <a:prstDash val="solid"/>
          </a:ln>
        </p:spPr>
      </p:sp>
      <p:pic>
        <p:nvPicPr>
          <p:cNvPr id="15" name="icon_268" descr="preencoded.png"/>
          <p:cNvPicPr>
            <a:picLocks noChangeAspect="1"/>
          </p:cNvPicPr>
          <p:nvPr/>
        </p:nvPicPr>
        <p:blipFill>
          <a:blip r:embed="rId5"/>
          <a:stretch>
            <a:fillRect/>
          </a:stretch>
        </p:blipFill>
        <p:spPr>
          <a:xfrm>
            <a:off x="6410858" y="1482242"/>
            <a:ext cx="281635" cy="281635"/>
          </a:xfrm>
          <a:prstGeom prst="rect">
            <a:avLst/>
          </a:prstGeom>
        </p:spPr>
      </p:pic>
      <p:sp>
        <p:nvSpPr>
          <p:cNvPr id="16" name="text_269"/>
          <p:cNvSpPr txBox="1"/>
          <p:nvPr/>
        </p:nvSpPr>
        <p:spPr>
          <a:xfrm>
            <a:off x="6940296" y="1371600"/>
            <a:ext cx="1618488" cy="502920"/>
          </a:xfrm>
          <a:prstGeom prst="rect">
            <a:avLst/>
          </a:prstGeom>
          <a:noFill/>
          <a:ln/>
        </p:spPr>
        <p:txBody>
          <a:bodyPr wrap="square" lIns="0" tIns="0" rIns="0" bIns="0" rtlCol="0" anchor="ctr"/>
          <a:lstStyle/>
          <a:p>
            <a:pPr marL="0" indent="0">
              <a:buNone/>
            </a:pPr>
            <a:r>
              <a:rPr lang="en-US" sz="1800" b="1" dirty="0">
                <a:solidFill>
                  <a:schemeClr val="tx2"/>
                </a:solidFill>
              </a:rPr>
              <a:t>Future scope</a:t>
            </a:r>
            <a:endParaRPr lang="en-US" sz="1800" dirty="0"/>
          </a:p>
        </p:txBody>
      </p:sp>
      <p:sp>
        <p:nvSpPr>
          <p:cNvPr id="17" name="text_270"/>
          <p:cNvSpPr txBox="1"/>
          <p:nvPr/>
        </p:nvSpPr>
        <p:spPr>
          <a:xfrm>
            <a:off x="6300216" y="2103120"/>
            <a:ext cx="2167128" cy="2468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Room capacity and sizes</a:t>
            </a:r>
            <a:endParaRPr lang="en-US" sz="1400" dirty="0"/>
          </a:p>
          <a:p>
            <a:pPr marL="342900" indent="-342900">
              <a:spcAft>
                <a:spcPts val="500"/>
              </a:spcAft>
              <a:buSzPct val="100000"/>
              <a:buChar char="•"/>
            </a:pPr>
            <a:r>
              <a:rPr lang="en-US" sz="1400" dirty="0">
                <a:solidFill>
                  <a:schemeClr val="tx1"/>
                </a:solidFill>
              </a:rPr>
              <a:t>Teacher preferences as soft rules</a:t>
            </a:r>
            <a:endParaRPr lang="en-US" sz="1400" dirty="0"/>
          </a:p>
          <a:p>
            <a:pPr marL="342900" indent="-342900">
              <a:spcAft>
                <a:spcPts val="500"/>
              </a:spcAft>
              <a:buSzPct val="100000"/>
              <a:buChar char="•"/>
            </a:pPr>
            <a:r>
              <a:rPr lang="en-US" sz="1400" dirty="0">
                <a:solidFill>
                  <a:schemeClr val="tx1"/>
                </a:solidFill>
              </a:rPr>
              <a:t>Smarter exact search (branch and bound)</a:t>
            </a:r>
            <a:endParaRPr lang="en-US" sz="1400" dirty="0"/>
          </a:p>
          <a:p>
            <a:pPr marL="342900" indent="-342900">
              <a:spcAft>
                <a:spcPts val="500"/>
              </a:spcAft>
              <a:buSzPct val="100000"/>
              <a:buChar char="•"/>
            </a:pPr>
            <a:r>
              <a:rPr lang="en-US" sz="1400" dirty="0">
                <a:solidFill>
                  <a:schemeClr val="tx1"/>
                </a:solidFill>
              </a:rPr>
              <a:t>Export timetable to PDF or Excel</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68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685800"/>
          </a:xfrm>
          <a:prstGeom prst="rect">
            <a:avLst/>
          </a:prstGeom>
          <a:noFill/>
          <a:ln/>
        </p:spPr>
        <p:txBody>
          <a:bodyPr wrap="square" lIns="0" tIns="0" rIns="0" bIns="0" rtlCol="0" anchor="ctr"/>
          <a:lstStyle/>
          <a:p>
            <a:pPr marL="0" indent="0" algn="l">
              <a:buNone/>
            </a:pPr>
            <a:r>
              <a:rPr lang="en-US" sz="3600" b="1" dirty="0">
                <a:solidFill>
                  <a:schemeClr val="bg1"/>
                </a:solidFill>
              </a:rPr>
              <a:t>Conclusion &amp; References</a:t>
            </a:r>
            <a:endParaRPr lang="en-US" sz="3600" dirty="0"/>
          </a:p>
        </p:txBody>
      </p:sp>
      <p:sp>
        <p:nvSpPr>
          <p:cNvPr id="3" name="text_271"/>
          <p:cNvSpPr txBox="1"/>
          <p:nvPr/>
        </p:nvSpPr>
        <p:spPr>
          <a:xfrm>
            <a:off x="548640" y="1143000"/>
            <a:ext cx="3931920" cy="365760"/>
          </a:xfrm>
          <a:prstGeom prst="rect">
            <a:avLst/>
          </a:prstGeom>
          <a:noFill/>
          <a:ln/>
        </p:spPr>
        <p:txBody>
          <a:bodyPr wrap="square" lIns="0" tIns="0" rIns="0" bIns="0" rtlCol="0" anchor="t"/>
          <a:lstStyle/>
          <a:p>
            <a:pPr marL="0" indent="0">
              <a:buNone/>
            </a:pPr>
            <a:r>
              <a:rPr lang="en-US" sz="2000" b="1" dirty="0">
                <a:solidFill>
                  <a:srgbClr val="E59A1F"/>
                </a:solidFill>
              </a:rPr>
              <a:t>Conclusion</a:t>
            </a:r>
            <a:endParaRPr lang="en-US" sz="2000" dirty="0"/>
          </a:p>
        </p:txBody>
      </p:sp>
      <p:sp>
        <p:nvSpPr>
          <p:cNvPr id="4" name="text_272"/>
          <p:cNvSpPr txBox="1"/>
          <p:nvPr/>
        </p:nvSpPr>
        <p:spPr>
          <a:xfrm>
            <a:off x="548640" y="1554480"/>
            <a:ext cx="3931920" cy="685800"/>
          </a:xfrm>
          <a:prstGeom prst="rect">
            <a:avLst/>
          </a:prstGeom>
          <a:noFill/>
          <a:ln/>
        </p:spPr>
        <p:txBody>
          <a:bodyPr wrap="square" lIns="0" tIns="0" rIns="0" bIns="0" rtlCol="0" anchor="t"/>
          <a:lstStyle/>
          <a:p>
            <a:pPr marL="0" indent="0">
              <a:buNone/>
            </a:pPr>
            <a:r>
              <a:rPr lang="en-US" sz="1400" dirty="0">
                <a:solidFill>
                  <a:schemeClr val="bg1"/>
                </a:solidFill>
              </a:rPr>
              <a:t>We modelled timetabling as graph colouring and built 3 algorithms in separate files, with a GUI to explain them.</a:t>
            </a:r>
            <a:endParaRPr lang="en-US" sz="1400" dirty="0"/>
          </a:p>
        </p:txBody>
      </p:sp>
      <p:sp>
        <p:nvSpPr>
          <p:cNvPr id="5" name="text_273"/>
          <p:cNvSpPr txBox="1"/>
          <p:nvPr/>
        </p:nvSpPr>
        <p:spPr>
          <a:xfrm>
            <a:off x="548640" y="2377440"/>
            <a:ext cx="3931920" cy="365760"/>
          </a:xfrm>
          <a:prstGeom prst="rect">
            <a:avLst/>
          </a:prstGeom>
          <a:noFill/>
          <a:ln/>
        </p:spPr>
        <p:txBody>
          <a:bodyPr wrap="square" lIns="0" tIns="0" rIns="0" bIns="0" rtlCol="0" anchor="t"/>
          <a:lstStyle/>
          <a:p>
            <a:pPr marL="0" indent="0">
              <a:buNone/>
            </a:pPr>
            <a:r>
              <a:rPr lang="en-US" sz="2000" b="1" dirty="0">
                <a:solidFill>
                  <a:srgbClr val="E59A1F"/>
                </a:solidFill>
              </a:rPr>
              <a:t>Key findings</a:t>
            </a:r>
            <a:endParaRPr lang="en-US" sz="2000" dirty="0"/>
          </a:p>
        </p:txBody>
      </p:sp>
      <p:sp>
        <p:nvSpPr>
          <p:cNvPr id="6" name="text_274"/>
          <p:cNvSpPr txBox="1"/>
          <p:nvPr/>
        </p:nvSpPr>
        <p:spPr>
          <a:xfrm>
            <a:off x="548640" y="2788920"/>
            <a:ext cx="3931920"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All timetables had 0 clashes in every test</a:t>
            </a:r>
            <a:endParaRPr lang="en-US" sz="1400" dirty="0"/>
          </a:p>
          <a:p>
            <a:pPr marL="342900" indent="-342900">
              <a:spcAft>
                <a:spcPts val="500"/>
              </a:spcAft>
              <a:buSzPct val="100000"/>
              <a:buChar char="•"/>
            </a:pPr>
            <a:r>
              <a:rPr lang="en-US" sz="1400" dirty="0">
                <a:solidFill>
                  <a:schemeClr val="bg1"/>
                </a:solidFill>
              </a:rPr>
              <a:t>Greedy is fastest; backtracking found fewer slots at 30 classes (10 vs 11)</a:t>
            </a:r>
            <a:endParaRPr lang="en-US" sz="1400" dirty="0"/>
          </a:p>
          <a:p>
            <a:pPr marL="342900" indent="-342900">
              <a:spcAft>
                <a:spcPts val="500"/>
              </a:spcAft>
              <a:buSzPct val="100000"/>
              <a:buChar char="•"/>
            </a:pPr>
            <a:r>
              <a:rPr lang="en-US" sz="1400" dirty="0">
                <a:solidFill>
                  <a:schemeClr val="bg1"/>
                </a:solidFill>
              </a:rPr>
              <a:t>Backtracking gave up at 100 classes: exponential time</a:t>
            </a:r>
            <a:endParaRPr lang="en-US" sz="1400" dirty="0"/>
          </a:p>
        </p:txBody>
      </p:sp>
      <p:sp>
        <p:nvSpPr>
          <p:cNvPr id="7" name="text_275"/>
          <p:cNvSpPr txBox="1"/>
          <p:nvPr/>
        </p:nvSpPr>
        <p:spPr>
          <a:xfrm>
            <a:off x="4754880" y="1143000"/>
            <a:ext cx="3931920" cy="365760"/>
          </a:xfrm>
          <a:prstGeom prst="rect">
            <a:avLst/>
          </a:prstGeom>
          <a:noFill/>
          <a:ln/>
        </p:spPr>
        <p:txBody>
          <a:bodyPr wrap="square" lIns="0" tIns="0" rIns="0" bIns="0" rtlCol="0" anchor="t"/>
          <a:lstStyle/>
          <a:p>
            <a:pPr marL="0" indent="0">
              <a:buNone/>
            </a:pPr>
            <a:r>
              <a:rPr lang="en-US" sz="2000" b="1" dirty="0">
                <a:solidFill>
                  <a:srgbClr val="E59A1F"/>
                </a:solidFill>
              </a:rPr>
              <a:t>References</a:t>
            </a:r>
            <a:endParaRPr lang="en-US" sz="2000" dirty="0"/>
          </a:p>
        </p:txBody>
      </p:sp>
      <p:sp>
        <p:nvSpPr>
          <p:cNvPr id="8" name="text_276"/>
          <p:cNvSpPr txBox="1"/>
          <p:nvPr/>
        </p:nvSpPr>
        <p:spPr>
          <a:xfrm>
            <a:off x="4754880" y="1554480"/>
            <a:ext cx="3931920" cy="3108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bg1"/>
                </a:solidFill>
              </a:rPr>
              <a:t>Cormen, Leiserson, Rivest, Stein. Introduction to Algorithms. MIT Press.</a:t>
            </a:r>
            <a:endParaRPr lang="en-US" sz="1200" dirty="0"/>
          </a:p>
          <a:p>
            <a:pPr marL="342900" indent="-342900">
              <a:spcAft>
                <a:spcPts val="500"/>
              </a:spcAft>
              <a:buSzPct val="100000"/>
              <a:buChar char="•"/>
            </a:pPr>
            <a:r>
              <a:rPr lang="en-US" sz="1200" dirty="0">
                <a:solidFill>
                  <a:schemeClr val="bg1"/>
                </a:solidFill>
              </a:rPr>
              <a:t>Welsh &amp; Powell (1967). An upper bound for the chromatic number of a graph and its application to timetabling problems. The Computer Journal, 10(1).</a:t>
            </a:r>
            <a:endParaRPr lang="en-US" sz="1200" dirty="0"/>
          </a:p>
          <a:p>
            <a:pPr marL="342900" indent="-342900">
              <a:spcAft>
                <a:spcPts val="500"/>
              </a:spcAft>
              <a:buSzPct val="100000"/>
              <a:buChar char="•"/>
            </a:pPr>
            <a:r>
              <a:rPr lang="en-US" sz="1200" dirty="0">
                <a:solidFill>
                  <a:schemeClr val="bg1"/>
                </a:solidFill>
              </a:rPr>
              <a:t>Documentation: Python, tkinter, Matplotlib.</a:t>
            </a:r>
            <a:endParaRPr lang="en-US" sz="1200" dirty="0"/>
          </a:p>
          <a:p>
            <a:pPr marL="342900" indent="-342900">
              <a:spcAft>
                <a:spcPts val="500"/>
              </a:spcAft>
              <a:buSzPct val="100000"/>
              <a:buChar char="•"/>
            </a:pPr>
            <a:r>
              <a:rPr lang="en-US" sz="1200" dirty="0">
                <a:solidFill>
                  <a:schemeClr val="bg1"/>
                </a:solidFill>
              </a:rPr>
              <a:t>Dataset: sample college data and random data from our own data.py (no external dataset).</a:t>
            </a:r>
            <a:endParaRPr lang="en-US" sz="1200" dirty="0"/>
          </a:p>
        </p:txBody>
      </p:sp>
    </p:spTree>
  </p:cSld>
  <p:clrMapOvr>
    <a:masterClrMapping/>
  </p:clrMapOvr>
</p:sld>
</file>

<file path=ppt/theme/theme1.xml><?xml version="1.0" encoding="utf-8"?>
<a:theme xmlns:a="http://schemas.openxmlformats.org/drawingml/2006/main" name="Timetable DAA">
  <a:themeElements>
    <a:clrScheme name="Timetable DAA">
      <a:dk1>
        <a:srgbClr val="2B3445"/>
      </a:dk1>
      <a:lt1>
        <a:srgbClr val="FFFFFF"/>
      </a:lt1>
      <a:dk2>
        <a:srgbClr val="1B2A49"/>
      </a:dk2>
      <a:lt2>
        <a:srgbClr val="F3F6FB"/>
      </a:lt2>
      <a:accent1>
        <a:srgbClr val="0B7F8B"/>
      </a:accent1>
      <a:accent2>
        <a:srgbClr val="6B5CE7"/>
      </a:accent2>
      <a:accent3>
        <a:srgbClr val="D9482B"/>
      </a:accent3>
      <a:accent4>
        <a:srgbClr val="E59A1F"/>
      </a:accent4>
      <a:accent5>
        <a:srgbClr val="3E8E41"/>
      </a:accent5>
      <a:accent6>
        <a:srgbClr val="6B7689"/>
      </a:accent6>
      <a:hlink>
        <a:srgbClr val="0B7F8B"/>
      </a:hlink>
      <a:folHlink>
        <a:srgbClr val="6B5CE7"/>
      </a:folHlink>
    </a:clrScheme>
    <a:fontScheme name="Timetable DA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2169</Words>
  <Application>Microsoft Office PowerPoint</Application>
  <PresentationFormat>On-screen Show (16:9)</PresentationFormat>
  <Paragraphs>314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Timetable DAA</vt:lpstr>
      <vt:lpstr>University Timetable Optimization System</vt:lpstr>
      <vt:lpstr>Problem Statement</vt:lpstr>
      <vt:lpstr>Motivation &amp; Real-World Use</vt:lpstr>
      <vt:lpstr>Project Objectives</vt:lpstr>
      <vt:lpstr>Existing Approach</vt:lpstr>
      <vt:lpstr>Proposed Approach</vt:lpstr>
      <vt:lpstr>Algorithms Used</vt:lpstr>
      <vt:lpstr>Algorithm &amp; Pseudocode</vt:lpstr>
      <vt:lpstr>System Architecture</vt:lpstr>
      <vt:lpstr>Implementation</vt:lpstr>
      <vt:lpstr>Project Screenshots</vt:lpstr>
      <vt:lpstr>Results</vt:lpstr>
      <vt:lpstr>Complexity Analysis</vt:lpstr>
      <vt:lpstr>Pros, Limits &amp; Future Scope</vt:lpstr>
      <vt:lpstr>Conclusion &amp; 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Timetable Optimization System - DAA Mini Project</dc:title>
  <dc:subject>PptxGenJS Presentation</dc:subject>
  <dc:creator>DAA Mini Project Group</dc:creator>
  <cp:lastModifiedBy>nidhi patel</cp:lastModifiedBy>
  <cp:revision>2</cp:revision>
  <dcterms:created xsi:type="dcterms:W3CDTF">2026-10-24T04:24:57Z</dcterms:created>
  <dcterms:modified xsi:type="dcterms:W3CDTF">2026-10-24T12:33:19Z</dcterms:modified>
</cp:coreProperties>
</file>